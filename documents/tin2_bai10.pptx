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5" r:id="rId2"/>
    <p:sldId id="260" r:id="rId3"/>
    <p:sldId id="262" r:id="rId4"/>
    <p:sldId id="263" r:id="rId5"/>
    <p:sldId id="264" r:id="rId6"/>
    <p:sldId id="265" r:id="rId7"/>
    <p:sldId id="266" r:id="rId8"/>
    <p:sldId id="273" r:id="rId9"/>
    <p:sldId id="267" r:id="rId10"/>
    <p:sldId id="269" r:id="rId11"/>
    <p:sldId id="270" r:id="rId12"/>
    <p:sldId id="274" r:id="rId13"/>
    <p:sldId id="271" r:id="rId14"/>
  </p:sldIdLst>
  <p:sldSz cx="12192000" cy="6858000"/>
  <p:notesSz cx="6858000" cy="9144000"/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92"/>
    <a:srgbClr val="F2F2F2"/>
    <a:srgbClr val="239071"/>
    <a:srgbClr val="57C0D5"/>
    <a:srgbClr val="FCA821"/>
    <a:srgbClr val="FFFFFF"/>
    <a:srgbClr val="D1E7E5"/>
    <a:srgbClr val="F9FCFB"/>
    <a:srgbClr val="DC5389"/>
    <a:srgbClr val="F2E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2" autoAdjust="0"/>
    <p:restoredTop sz="98912" autoAdjust="0"/>
  </p:normalViewPr>
  <p:slideViewPr>
    <p:cSldViewPr snapToGrid="0">
      <p:cViewPr varScale="1">
        <p:scale>
          <a:sx n="103" d="100"/>
          <a:sy n="103" d="100"/>
        </p:scale>
        <p:origin x="315" y="7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85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4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241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359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15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046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5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84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8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microsoft.com/office/2007/relationships/hdphoto" Target="../media/hdphoto6.wdp"/><Relationship Id="rId5" Type="http://schemas.openxmlformats.org/officeDocument/2006/relationships/image" Target="../media/image14.png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CB0894-1F5C-37CC-1679-C26DC9CA5E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27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1025" y="511209"/>
            <a:ext cx="9105261" cy="1600438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đề 4</a:t>
            </a:r>
          </a:p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345" y="3206695"/>
            <a:ext cx="1044330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vi-V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10: GIỚI THIỆU PHẦ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MỀM WODPAD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302506" y="449821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>
          <a:xfrm>
            <a:off x="345968" y="2003626"/>
            <a:ext cx="11712682" cy="2934133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khởi động và thoát khỏi phần mềm WordPad; Biết được các thành phần cơ bản trên cửa sổ phần mềm</a:t>
            </a:r>
            <a:r>
              <a:rPr lang="en-US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WordPad.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09728" y="81890"/>
            <a:ext cx="8734097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mở đầu (Khởi động)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3651" y="5376538"/>
            <a:ext cx="11410950" cy="6309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3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Hai hình này có điểm gì khác nhau?</a:t>
            </a:r>
            <a:endParaRPr lang="en-US" sz="3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3ACD3-4062-9735-4817-57A655896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51" y="1118086"/>
            <a:ext cx="4878408" cy="41397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C32F77-348F-50FB-7B5B-91F1CC5B6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902" y="1187418"/>
            <a:ext cx="5134692" cy="40010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46D829-064B-15C3-9CDB-A0841D075750}"/>
              </a:ext>
            </a:extLst>
          </p:cNvPr>
          <p:cNvSpPr/>
          <p:nvPr/>
        </p:nvSpPr>
        <p:spPr>
          <a:xfrm>
            <a:off x="513651" y="5376537"/>
            <a:ext cx="11410950" cy="11695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3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Nếu viết sai ở ảnh 1 thì phải làm sao? Còn ở máy tính thì có dễ sửa hơn không?</a:t>
            </a:r>
            <a:endParaRPr lang="en-US" sz="3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164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56077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8239" y="1178724"/>
            <a:ext cx="77148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4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1. Giới thiệu phần mềm WordPad.</a:t>
            </a:r>
          </a:p>
        </p:txBody>
      </p:sp>
      <p:sp>
        <p:nvSpPr>
          <p:cNvPr id="3" name="Rectangle 2"/>
          <p:cNvSpPr/>
          <p:nvPr/>
        </p:nvSpPr>
        <p:spPr>
          <a:xfrm>
            <a:off x="712194" y="2159572"/>
            <a:ext cx="107749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WordPad là phần mềm giúp các em ghi chép lại nội dung nào đó vào máy tính.</a:t>
            </a:r>
            <a:endParaRPr lang="en-US" sz="3600" b="1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73" b="89773" l="0" r="89773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25" t="7012" r="21566" b="32483"/>
          <a:stretch/>
        </p:blipFill>
        <p:spPr>
          <a:xfrm>
            <a:off x="4665080" y="3815446"/>
            <a:ext cx="1550054" cy="1597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5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978901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7999" y="960700"/>
            <a:ext cx="8978901" cy="7078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Khởi động phần mềm WordPad.</a:t>
            </a: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788020"/>
            <a:ext cx="108356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Trên màn hình nền, nháy đúp chuột vào WordPad, em sẽ thấy xuất hiện cửa sổ sau:</a:t>
            </a:r>
          </a:p>
        </p:txBody>
      </p:sp>
      <p:pic>
        <p:nvPicPr>
          <p:cNvPr id="15" name="Picture 14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8372" y="2941438"/>
            <a:ext cx="7229740" cy="367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1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03323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430" y="914534"/>
            <a:ext cx="8565509" cy="5847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3. Các thành phần cơ bản</a:t>
            </a: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(Quan </a:t>
            </a:r>
            <a:r>
              <a:rPr lang="en-US" sz="3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SGK </a:t>
            </a:r>
            <a:r>
              <a:rPr lang="en-US" sz="3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trang</a:t>
            </a: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35)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65EC33-D6EF-4C10-09C1-8A6C786AA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43" y="1565008"/>
            <a:ext cx="9992713" cy="529725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F567377-EAE0-48E3-A248-7B2F75F9C57A}"/>
              </a:ext>
            </a:extLst>
          </p:cNvPr>
          <p:cNvSpPr/>
          <p:nvPr/>
        </p:nvSpPr>
        <p:spPr>
          <a:xfrm>
            <a:off x="2919369" y="3429001"/>
            <a:ext cx="612396" cy="580938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C8855E-2767-B7D7-BCBF-6FF0BB47C286}"/>
              </a:ext>
            </a:extLst>
          </p:cNvPr>
          <p:cNvSpPr/>
          <p:nvPr/>
        </p:nvSpPr>
        <p:spPr>
          <a:xfrm>
            <a:off x="2604781" y="4556663"/>
            <a:ext cx="1241571" cy="5104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Con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trỏ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72C5FA-FBE4-2D49-32F7-5D1C4129FA89}"/>
              </a:ext>
            </a:extLst>
          </p:cNvPr>
          <p:cNvCxnSpPr/>
          <p:nvPr/>
        </p:nvCxnSpPr>
        <p:spPr>
          <a:xfrm flipV="1">
            <a:off x="3229762" y="4059129"/>
            <a:ext cx="0" cy="480459"/>
          </a:xfrm>
          <a:prstGeom prst="straightConnector1">
            <a:avLst/>
          </a:prstGeom>
          <a:ln w="38100">
            <a:solidFill>
              <a:srgbClr val="0050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8CF8FD9-3C2D-0907-BE52-533A37A4090A}"/>
              </a:ext>
            </a:extLst>
          </p:cNvPr>
          <p:cNvSpPr/>
          <p:nvPr/>
        </p:nvSpPr>
        <p:spPr>
          <a:xfrm>
            <a:off x="1166070" y="2004969"/>
            <a:ext cx="5352176" cy="679508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862C1F-7949-08C8-D944-046AB7567197}"/>
              </a:ext>
            </a:extLst>
          </p:cNvPr>
          <p:cNvSpPr/>
          <p:nvPr/>
        </p:nvSpPr>
        <p:spPr>
          <a:xfrm>
            <a:off x="7703997" y="2076930"/>
            <a:ext cx="2598652" cy="5104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Thanh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công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cụ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655C1B-8D04-6F5D-7CE8-503AB5B3DAB7}"/>
              </a:ext>
            </a:extLst>
          </p:cNvPr>
          <p:cNvCxnSpPr>
            <a:cxnSpLocks/>
          </p:cNvCxnSpPr>
          <p:nvPr/>
        </p:nvCxnSpPr>
        <p:spPr>
          <a:xfrm flipH="1">
            <a:off x="6518246" y="2332139"/>
            <a:ext cx="1174459" cy="0"/>
          </a:xfrm>
          <a:prstGeom prst="straightConnector1">
            <a:avLst/>
          </a:prstGeom>
          <a:ln w="38100">
            <a:solidFill>
              <a:srgbClr val="0050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473F9AC-D192-71F9-1735-81DB80DFE605}"/>
              </a:ext>
            </a:extLst>
          </p:cNvPr>
          <p:cNvSpPr/>
          <p:nvPr/>
        </p:nvSpPr>
        <p:spPr>
          <a:xfrm>
            <a:off x="1535185" y="1770077"/>
            <a:ext cx="805343" cy="234892"/>
          </a:xfrm>
          <a:prstGeom prst="rect">
            <a:avLst/>
          </a:prstGeom>
          <a:noFill/>
          <a:ln w="571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6" name="Rectangle 9215">
            <a:extLst>
              <a:ext uri="{FF2B5EF4-FFF2-40B4-BE49-F238E27FC236}">
                <a16:creationId xmlns:a16="http://schemas.microsoft.com/office/drawing/2014/main" id="{680D2B3A-E417-F53E-B40B-0EEDF3D984A6}"/>
              </a:ext>
            </a:extLst>
          </p:cNvPr>
          <p:cNvSpPr/>
          <p:nvPr/>
        </p:nvSpPr>
        <p:spPr>
          <a:xfrm>
            <a:off x="3418616" y="1615589"/>
            <a:ext cx="1639946" cy="30897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Thanh menu</a:t>
            </a:r>
          </a:p>
        </p:txBody>
      </p:sp>
      <p:cxnSp>
        <p:nvCxnSpPr>
          <p:cNvPr id="9217" name="Straight Arrow Connector 9216">
            <a:extLst>
              <a:ext uri="{FF2B5EF4-FFF2-40B4-BE49-F238E27FC236}">
                <a16:creationId xmlns:a16="http://schemas.microsoft.com/office/drawing/2014/main" id="{CDA48988-FD44-6930-76B8-60D0C1EF69EA}"/>
              </a:ext>
            </a:extLst>
          </p:cNvPr>
          <p:cNvCxnSpPr>
            <a:cxnSpLocks/>
            <a:stCxn id="9216" idx="1"/>
          </p:cNvCxnSpPr>
          <p:nvPr/>
        </p:nvCxnSpPr>
        <p:spPr>
          <a:xfrm flipH="1">
            <a:off x="2434201" y="1770077"/>
            <a:ext cx="984415" cy="85287"/>
          </a:xfrm>
          <a:prstGeom prst="straightConnector1">
            <a:avLst/>
          </a:prstGeom>
          <a:ln w="38100">
            <a:solidFill>
              <a:srgbClr val="0050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0" name="Rectangle 9219">
            <a:extLst>
              <a:ext uri="{FF2B5EF4-FFF2-40B4-BE49-F238E27FC236}">
                <a16:creationId xmlns:a16="http://schemas.microsoft.com/office/drawing/2014/main" id="{DFC784DF-D913-DD39-8384-D307761426CD}"/>
              </a:ext>
            </a:extLst>
          </p:cNvPr>
          <p:cNvSpPr/>
          <p:nvPr/>
        </p:nvSpPr>
        <p:spPr>
          <a:xfrm>
            <a:off x="2004969" y="2902591"/>
            <a:ext cx="8154099" cy="3691154"/>
          </a:xfrm>
          <a:prstGeom prst="rect">
            <a:avLst/>
          </a:prstGeom>
          <a:noFill/>
          <a:ln w="5715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1" name="Rectangle 9220">
            <a:extLst>
              <a:ext uri="{FF2B5EF4-FFF2-40B4-BE49-F238E27FC236}">
                <a16:creationId xmlns:a16="http://schemas.microsoft.com/office/drawing/2014/main" id="{9C81432D-8B82-ADDC-5DE0-59244B401012}"/>
              </a:ext>
            </a:extLst>
          </p:cNvPr>
          <p:cNvSpPr/>
          <p:nvPr/>
        </p:nvSpPr>
        <p:spPr>
          <a:xfrm>
            <a:off x="5952094" y="4309802"/>
            <a:ext cx="2598652" cy="5104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Vùng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làm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việc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890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  <p:bldP spid="11" grpId="0" animBg="1"/>
      <p:bldP spid="16" grpId="0" animBg="1"/>
      <p:bldP spid="24" grpId="0" animBg="1"/>
      <p:bldP spid="25" grpId="0" animBg="1"/>
      <p:bldP spid="29" grpId="0" animBg="1"/>
      <p:bldP spid="9216" grpId="0" animBg="1"/>
      <p:bldP spid="9220" grpId="0" animBg="1"/>
      <p:bldP spid="92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65551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9100" y="917466"/>
            <a:ext cx="7429500" cy="7078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4. Thoát khỏi phần mềm WordPad.</a:t>
            </a: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90" y="1827477"/>
            <a:ext cx="83339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Để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thoát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khỏi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mềm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nháy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chuột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vào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đâu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712CD8-7FBA-0497-E1E9-E28AEB576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970" y="2412251"/>
            <a:ext cx="8136502" cy="4313257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 rot="19234092">
            <a:off x="9296754" y="1892569"/>
            <a:ext cx="993913" cy="454589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2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  <p:bldP spid="6" grpId="0"/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345345" y="-176435"/>
            <a:ext cx="5503985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7535" y="917466"/>
            <a:ext cx="9399607" cy="101566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Yêu cầu học sinh làm bài tập cá nhân bài 1 và 2 trong sách Làm quen Tin học 2 trang 35.</a:t>
            </a:r>
            <a:endParaRPr lang="en-US" sz="3000" b="1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9650" y="2286000"/>
            <a:ext cx="10210800" cy="4191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74559" y="5329535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>
                <a:ln/>
                <a:solidFill>
                  <a:srgbClr val="C00000"/>
                </a:solidFill>
                <a:effectLst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2749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6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866294" y="0"/>
            <a:ext cx="5767754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100" y="1193482"/>
            <a:ext cx="10515600" cy="53025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401050" y="4705350"/>
            <a:ext cx="1543050" cy="15621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4100052" y="2743200"/>
            <a:ext cx="1386348" cy="17403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005781" y="4755740"/>
            <a:ext cx="1386348" cy="17403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479401" y="2743200"/>
            <a:ext cx="1386348" cy="17403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6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338754" y="-159489"/>
            <a:ext cx="574643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0014" y="917466"/>
            <a:ext cx="9214729" cy="132343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 hãy khởi động phần mềm Wordpad bằng cách khác theo hướng dẫn sau:</a:t>
            </a:r>
            <a:endParaRPr lang="en-US" sz="4000" b="1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014" y="2559883"/>
            <a:ext cx="5746433" cy="3802817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6892" y="2559883"/>
            <a:ext cx="5226958" cy="380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572664" y="71370"/>
            <a:ext cx="5609492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9" y="1401458"/>
            <a:ext cx="10027642" cy="38933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0700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965594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35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08">
    <a:dk1>
      <a:srgbClr val="4D4D4D"/>
    </a:dk1>
    <a:lt1>
      <a:srgbClr val="FFFFFF"/>
    </a:lt1>
    <a:dk2>
      <a:srgbClr val="4D4D4D"/>
    </a:dk2>
    <a:lt2>
      <a:srgbClr val="FFFFFF"/>
    </a:lt2>
    <a:accent1>
      <a:srgbClr val="6CBCBC"/>
    </a:accent1>
    <a:accent2>
      <a:srgbClr val="3DCEB5"/>
    </a:accent2>
    <a:accent3>
      <a:srgbClr val="3DB7CF"/>
    </a:accent3>
    <a:accent4>
      <a:srgbClr val="E676A9"/>
    </a:accent4>
    <a:accent5>
      <a:srgbClr val="BAB65E"/>
    </a:accent5>
    <a:accent6>
      <a:srgbClr val="FFB14A"/>
    </a:accent6>
    <a:hlink>
      <a:srgbClr val="EF342B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自定义 108">
    <a:dk1>
      <a:srgbClr val="4D4D4D"/>
    </a:dk1>
    <a:lt1>
      <a:srgbClr val="FFFFFF"/>
    </a:lt1>
    <a:dk2>
      <a:srgbClr val="4D4D4D"/>
    </a:dk2>
    <a:lt2>
      <a:srgbClr val="FFFFFF"/>
    </a:lt2>
    <a:accent1>
      <a:srgbClr val="6CBCBC"/>
    </a:accent1>
    <a:accent2>
      <a:srgbClr val="3DCEB5"/>
    </a:accent2>
    <a:accent3>
      <a:srgbClr val="3DB7CF"/>
    </a:accent3>
    <a:accent4>
      <a:srgbClr val="E676A9"/>
    </a:accent4>
    <a:accent5>
      <a:srgbClr val="BAB65E"/>
    </a:accent5>
    <a:accent6>
      <a:srgbClr val="FFB14A"/>
    </a:accent6>
    <a:hlink>
      <a:srgbClr val="EF342B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</TotalTime>
  <Words>299</Words>
  <Application>Microsoft Office PowerPoint</Application>
  <PresentationFormat>Widescreen</PresentationFormat>
  <Paragraphs>44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Bahnschrift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PowerPoint Presentation</vt:lpstr>
      <vt:lpstr>PowerPoint Presentation</vt:lpstr>
      <vt:lpstr>Mục tiêu</vt:lpstr>
      <vt:lpstr>Hoạt động mở đầu (Khởi động)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luyện tập</vt:lpstr>
      <vt:lpstr>Hoạt động luyện tập</vt:lpstr>
      <vt:lpstr>Hoạt động vận dụng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158</cp:revision>
  <dcterms:created xsi:type="dcterms:W3CDTF">2017-05-10T09:07:55Z</dcterms:created>
  <dcterms:modified xsi:type="dcterms:W3CDTF">2026-03-24T14:07:31Z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