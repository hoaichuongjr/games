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1.xml" ContentType="application/vnd.openxmlformats-officedocument.presentationml.tags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76" r:id="rId2"/>
    <p:sldId id="260" r:id="rId3"/>
    <p:sldId id="262" r:id="rId4"/>
    <p:sldId id="263" r:id="rId5"/>
    <p:sldId id="264" r:id="rId6"/>
    <p:sldId id="265" r:id="rId7"/>
    <p:sldId id="273" r:id="rId8"/>
    <p:sldId id="278" r:id="rId9"/>
    <p:sldId id="277" r:id="rId10"/>
    <p:sldId id="279" r:id="rId11"/>
    <p:sldId id="267" r:id="rId12"/>
    <p:sldId id="274" r:id="rId13"/>
    <p:sldId id="280" r:id="rId14"/>
    <p:sldId id="281" r:id="rId15"/>
    <p:sldId id="270" r:id="rId16"/>
    <p:sldId id="282" r:id="rId17"/>
    <p:sldId id="275" r:id="rId18"/>
    <p:sldId id="271" r:id="rId19"/>
  </p:sldIdLst>
  <p:sldSz cx="12192000" cy="6858000"/>
  <p:notesSz cx="6858000" cy="9144000"/>
  <p:defaultTextStyle>
    <a:defPPr>
      <a:defRPr lang="zh-CN"/>
    </a:defPPr>
    <a:lvl1pPr algn="l" defTabSz="1217295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1pPr>
    <a:lvl2pPr marL="608330" indent="-151130" algn="l" defTabSz="1217295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2pPr>
    <a:lvl3pPr marL="1217930" indent="-303530" algn="l" defTabSz="1217295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3pPr>
    <a:lvl4pPr marL="1827530" indent="-455930" algn="l" defTabSz="1217295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4pPr>
    <a:lvl5pPr marL="2437130" indent="-608330" algn="l" defTabSz="1217295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092"/>
    <a:srgbClr val="FCA821"/>
    <a:srgbClr val="239071"/>
    <a:srgbClr val="57C0D5"/>
    <a:srgbClr val="FFFFFF"/>
    <a:srgbClr val="D1E7E5"/>
    <a:srgbClr val="F2F2F2"/>
    <a:srgbClr val="F9FCFB"/>
    <a:srgbClr val="DC5389"/>
    <a:srgbClr val="F2EF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2" autoAdjust="0"/>
    <p:restoredTop sz="98912" autoAdjust="0"/>
  </p:normalViewPr>
  <p:slideViewPr>
    <p:cSldViewPr snapToGrid="0">
      <p:cViewPr varScale="1">
        <p:scale>
          <a:sx n="103" d="100"/>
          <a:sy n="103" d="100"/>
        </p:scale>
        <p:origin x="315" y="7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522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1218565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思源黑体 CN Normal" panose="020B0400000000000000" pitchFamily="34" charset="-122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1218565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思源黑体 CN Normal" panose="020B0400000000000000" pitchFamily="34" charset="-122"/>
                <a:ea typeface="+mn-ea"/>
              </a:defRPr>
            </a:lvl1pPr>
          </a:lstStyle>
          <a:p>
            <a:pPr>
              <a:defRPr/>
            </a:pPr>
            <a:fld id="{E3649B75-C036-43A6-B586-D4D3956B9750}" type="datetimeFigureOut">
              <a:rPr lang="zh-CN" altLang="en-US" smtClean="0"/>
              <a:pPr>
                <a:defRPr/>
              </a:pPr>
              <a:t>2026/4/5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dirty="0"/>
              <a:t>模板来自于 </a:t>
            </a:r>
            <a:r>
              <a:rPr lang="en-US" altLang="zh-CN" noProof="0" dirty="0"/>
              <a:t>http://docer.mysoeasy.com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1218565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思源黑体 CN Normal" panose="020B0400000000000000" pitchFamily="34" charset="-122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defTabSz="1218565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思源黑体 CN Normal" panose="020B0400000000000000" pitchFamily="34" charset="-122"/>
                <a:ea typeface="+mn-ea"/>
              </a:defRPr>
            </a:lvl1pPr>
          </a:lstStyle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80666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1217295" rtl="0" eaLnBrk="0" fontAlgn="base" hangingPunct="0">
      <a:spcBef>
        <a:spcPct val="30000"/>
      </a:spcBef>
      <a:spcAft>
        <a:spcPct val="0"/>
      </a:spcAft>
      <a:buFont typeface="Arial" panose="020B0604020202020204" pitchFamily="34" charset="0"/>
      <a:defRPr kern="1200">
        <a:solidFill>
          <a:srgbClr val="FF0000"/>
        </a:solidFill>
        <a:latin typeface="思源黑体 CN Normal" panose="020B0400000000000000" pitchFamily="34" charset="-122"/>
        <a:ea typeface="+mn-ea"/>
        <a:cs typeface="+mn-cs"/>
      </a:defRPr>
    </a:lvl1pPr>
    <a:lvl2pPr marL="742950" indent="-285750" algn="l" defTabSz="1217295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143000" indent="-228600" algn="l" defTabSz="1217295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600200" indent="-228600" algn="l" defTabSz="1217295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057400" indent="-228600" algn="l" defTabSz="1217295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4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65"/>
              <a:t>亮亮图文旗舰店</a:t>
            </a:r>
            <a:r>
              <a:rPr lang="en-US" altLang="zh-CN" sz="1865"/>
              <a:t>https://liangliangtuwen.tmall.com</a:t>
            </a:r>
            <a:endParaRPr lang="zh-CN" altLang="en-US" sz="1865"/>
          </a:p>
        </p:txBody>
      </p:sp>
      <p:sp>
        <p:nvSpPr>
          <p:cNvPr id="717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spcBef>
                <a:spcPct val="30000"/>
              </a:spcBef>
              <a:buFont typeface="Arial" panose="020B0604020202020204" pitchFamily="34" charset="0"/>
              <a:defRPr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217295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217295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217295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217295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defTabSz="1217295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04AECACE-C708-43AA-9ADF-9E0A79DBA94A}" type="slidenum">
              <a:rPr lang="zh-CN" altLang="en-US" smtClean="0">
                <a:solidFill>
                  <a:schemeClr val="tx1"/>
                </a:solidFill>
                <a:latin typeface="思源黑体 CN Normal" panose="020B0400000000000000" pitchFamily="34" charset="-122"/>
              </a:rPr>
              <a:pPr defTabSz="1217295"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</a:t>
            </a:fld>
            <a:endParaRPr lang="zh-CN" altLang="en-US">
              <a:solidFill>
                <a:schemeClr val="tx1"/>
              </a:solidFill>
              <a:latin typeface="思源黑体 CN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827347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03822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81390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28543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89425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79698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AD508-A9F2-008E-97CF-FEDD4831E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3D1E627-942D-65E2-C5A6-67C49F11CC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DF47829-3D20-F681-8812-0CAF42DA39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F668115-2A40-459E-2D01-2899EBE908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73190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F324F-DD4A-3DBD-D0ED-4E7C0ADBA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3D318E0-4260-5C24-13BB-E0A4388A66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8D2CE4B-2A95-833A-71C6-1269240E11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F97F970-C1D4-03DE-E8E0-ECED6CCF91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70934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D6683-18F2-B9A5-D729-2D7367FC1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CCE4A6A-F40C-84F1-8A07-DA5AF9F174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99AECB4-F1FD-4F53-1A40-6EA8C30574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2F8E1F-8696-B360-1015-DBE7F099DA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95764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33154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481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C030C-EF59-8323-8D46-F8A4EB0F7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9F098BB-6A97-3268-15C5-79D51971BB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559A923-A278-9ABF-2413-F0E17CBCFA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DAB38D3-3BCE-4E15-2C26-968D7742A7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84039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C97DC-6B41-7396-76A2-883178A8F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C824E21-8681-5257-57B5-F6E7E297FC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A5C0C7B-E0E1-D084-1A31-5ED10DE32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C8AD1CB-7DEB-7F7A-F13C-0D5B54566A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8627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74256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A886F-F91F-4D05-3929-9321755C5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AB6FD50-A9CE-A148-72F8-88F9E54C1B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B997AF1-8412-A219-2E68-8D079F9C73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35D0713-C1BD-2DF2-2331-E35106A144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12399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39844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DAEED1-DB3D-437D-B33B-48D91055326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01872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58001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1214" y="845128"/>
            <a:ext cx="7441077" cy="2604550"/>
          </a:xfrm>
        </p:spPr>
        <p:txBody>
          <a:bodyPr anchor="ctr">
            <a:normAutofit/>
          </a:bodyPr>
          <a:lstStyle>
            <a:lvl1pPr algn="ctr">
              <a:lnSpc>
                <a:spcPct val="150000"/>
              </a:lnSpc>
              <a:defRPr sz="4400" b="1" i="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9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1227B1-864B-47CB-B8FD-7D024961E14C}" type="datetimeFigureOut">
              <a:rPr lang="zh-CN" altLang="en-US"/>
              <a:pPr>
                <a:defRPr/>
              </a:pPr>
              <a:t>2026/4/5</a:t>
            </a:fld>
            <a:endParaRPr lang="zh-CN" altLang="en-US"/>
          </a:p>
        </p:txBody>
      </p:sp>
      <p:sp>
        <p:nvSpPr>
          <p:cNvPr id="10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E7EE4C-9BF1-4250-B807-668456CE46A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122524" y="3581521"/>
            <a:ext cx="7480178" cy="671821"/>
          </a:xfrm>
        </p:spPr>
        <p:txBody>
          <a:bodyPr anchor="ctr">
            <a:noAutofit/>
          </a:bodyPr>
          <a:lstStyle>
            <a:lvl1pPr marL="0" indent="0" algn="ctr">
              <a:lnSpc>
                <a:spcPct val="150000"/>
              </a:lnSpc>
              <a:buNone/>
              <a:defRPr sz="2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B29D4B-2CA7-47A8-86E5-FE890B1AEF36}" type="datetimeFigureOut">
              <a:rPr lang="zh-CN" altLang="en-US"/>
              <a:pPr>
                <a:defRPr/>
              </a:pPr>
              <a:t>2026/4/5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2127CC-6915-48A9-B008-AF3C75820C2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2000" cy="6858001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844" y="933148"/>
            <a:ext cx="7162901" cy="2467282"/>
          </a:xfrm>
        </p:spPr>
        <p:txBody>
          <a:bodyPr anchor="ctr"/>
          <a:lstStyle>
            <a:lvl1pPr algn="ctr">
              <a:lnSpc>
                <a:spcPct val="15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968" y="3458940"/>
            <a:ext cx="7052653" cy="855891"/>
          </a:xfrm>
        </p:spPr>
        <p:txBody>
          <a:bodyPr anchor="ctr"/>
          <a:lstStyle>
            <a:lvl1pPr marL="0" indent="0" algn="ctr">
              <a:lnSpc>
                <a:spcPct val="15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91990E-E653-4FD8-923B-A2D860A8A90E}" type="datetimeFigureOut">
              <a:rPr lang="zh-CN" altLang="en-US"/>
              <a:pPr>
                <a:defRPr/>
              </a:pPr>
              <a:t>2026/4/5</a:t>
            </a:fld>
            <a:endParaRPr lang="zh-CN" alt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6B55DE-A138-432A-8102-1E3083C6FAC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3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3pPr>
            <a:lvl4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4pPr>
            <a:lvl5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3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3pPr>
            <a:lvl4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4pPr>
            <a:lvl5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503295-1E4B-43CB-ACE7-ED4E99C07012}" type="datetimeFigureOut">
              <a:rPr lang="zh-CN" altLang="en-US"/>
              <a:pPr>
                <a:defRPr/>
              </a:pPr>
              <a:t>2026/4/5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0F0ABD-4112-4B46-AE5F-F7B3FCC1514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>
            <a:lvl3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3pPr>
            <a:lvl4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4pPr>
            <a:lvl5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>
            <a:lvl3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3pPr>
            <a:lvl4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4pPr>
            <a:lvl5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1170D5-879E-4918-AA43-1581FF74425B}" type="datetimeFigureOut">
              <a:rPr lang="zh-CN" altLang="en-US"/>
              <a:pPr>
                <a:defRPr/>
              </a:pPr>
              <a:t>2026/4/5</a:t>
            </a:fld>
            <a:endParaRPr lang="zh-CN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CF617F-1FAF-4B1F-8DA8-C199C45268F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亮亮图文旗舰店https://liangliangtuwen.tmall.c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7857CE-0B02-4E23-8C71-0AC50F027A2D}" type="datetimeFigureOut">
              <a:rPr lang="zh-CN" altLang="en-US"/>
              <a:pPr>
                <a:defRPr/>
              </a:pPr>
              <a:t>2026/4/5</a:t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7C59-ACF1-46EC-AA2B-C1494FFFC09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EC2F33-1B8F-49A4-B81C-5C1A866997DB}" type="datetimeFigureOut">
              <a:rPr lang="zh-CN" altLang="en-US"/>
              <a:pPr>
                <a:defRPr/>
              </a:pPr>
              <a:t>2026/4/5</a:t>
            </a:fld>
            <a:endParaRPr lang="zh-CN" alt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047A2D-2746-4C2C-8659-5794A5D3056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2002" cy="6858001"/>
          </a:xfrm>
          <a:prstGeom prst="rect">
            <a:avLst/>
          </a:prstGeom>
          <a:solidFill>
            <a:srgbClr val="D1E7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lvl="0" algn="ctr" defTabSz="914400" eaLnBrk="1" latinLnBrk="0" hangingPunct="1"/>
            <a:endParaRPr lang="zh-CN" altLang="en-US" sz="180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3pPr>
            <a:lvl4pPr>
              <a:defRPr sz="2000"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4pPr>
            <a:lvl5pPr>
              <a:defRPr sz="2000"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8EF24E-7ACB-4130-A95E-31B492E4DC89}" type="datetimeFigureOut">
              <a:rPr lang="zh-CN" altLang="en-US"/>
              <a:pPr>
                <a:defRPr/>
              </a:pPr>
              <a:t>2026/4/5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7E9992-9A03-4D74-B6F7-FDB10D1C509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F34395-4959-4A0C-96FB-5F242B3DEB06}" type="datetimeFigureOut">
              <a:rPr lang="zh-CN" altLang="en-US"/>
              <a:pPr>
                <a:defRPr/>
              </a:pPr>
              <a:t>2026/4/5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8EBC8F-9660-4E80-9F8E-C4E5D79BDAB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3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3pPr>
            <a:lvl4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4pPr>
            <a:lvl5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0CAE8C-B19C-4977-8BCA-B32C13833C88}" type="datetimeFigureOut">
              <a:rPr lang="zh-CN" altLang="en-US"/>
              <a:pPr>
                <a:defRPr/>
              </a:pPr>
              <a:t>2026/4/5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2A551E-31EC-4F7A-A252-B2FCA315F68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 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>
            <a:lvl3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3pPr>
            <a:lvl4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4pPr>
            <a:lvl5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0D3A26-0640-4C70-A709-B1491CCE26F4}" type="datetimeFigureOut">
              <a:rPr lang="zh-CN" altLang="en-US"/>
              <a:pPr>
                <a:defRPr/>
              </a:pPr>
              <a:t>2026/4/5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231408-E647-409A-B508-321AFC4E7C0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80000"/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-1" y="0"/>
            <a:ext cx="12192002" cy="6858001"/>
          </a:xfrm>
          <a:prstGeom prst="rect">
            <a:avLst/>
          </a:prstGeom>
          <a:blipFill dpi="0" rotWithShape="1"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54063" y="1769806"/>
            <a:ext cx="10680700" cy="4586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1218565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pPr>
              <a:defRPr/>
            </a:pPr>
            <a:fld id="{CE9557E7-78E4-435A-A3A8-EB5A40A4B307}" type="datetimeFigureOut">
              <a:rPr lang="zh-CN" altLang="en-US" smtClean="0"/>
              <a:pPr>
                <a:defRPr/>
              </a:pPr>
              <a:t>2026/4/5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defTabSz="1218565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1218565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pPr>
              <a:defRPr/>
            </a:pPr>
            <a:fld id="{EB3DC92C-287B-43BD-8FAB-B84E3B43B89E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1031" name="Title Placeholder 1"/>
          <p:cNvSpPr>
            <a:spLocks noGrp="1"/>
          </p:cNvSpPr>
          <p:nvPr>
            <p:ph type="title"/>
          </p:nvPr>
        </p:nvSpPr>
        <p:spPr bwMode="auto">
          <a:xfrm>
            <a:off x="754063" y="162393"/>
            <a:ext cx="10680700" cy="1115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accent1"/>
          </a:solidFill>
          <a:effectLst/>
          <a:latin typeface="思源黑体 CN Normal" panose="020B0400000000000000" pitchFamily="34" charset="-122"/>
          <a:ea typeface="思源黑体 CN Normal" panose="020B0400000000000000" pitchFamily="34" charset="-122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empus Sans ITC" panose="04020404030D07020202" pitchFamily="82" charset="0"/>
          <a:ea typeface="幼圆" panose="02010509060101010101" pitchFamily="49" charset="-122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empus Sans ITC" panose="04020404030D07020202" pitchFamily="82" charset="0"/>
          <a:ea typeface="幼圆" panose="02010509060101010101" pitchFamily="49" charset="-122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empus Sans ITC" panose="04020404030D07020202" pitchFamily="82" charset="0"/>
          <a:ea typeface="幼圆" panose="02010509060101010101" pitchFamily="49" charset="-122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empus Sans ITC" panose="04020404030D07020202" pitchFamily="82" charset="0"/>
          <a:ea typeface="幼圆" panose="02010509060101010101" pitchFamily="49" charset="-122"/>
        </a:defRPr>
      </a:lvl9pPr>
    </p:titleStyle>
    <p:bodyStyle>
      <a:lvl1pPr marL="357505" indent="-357505" algn="l" rtl="0" eaLnBrk="0" fontAlgn="base" hangingPunct="0">
        <a:lnSpc>
          <a:spcPct val="90000"/>
        </a:lnSpc>
        <a:spcBef>
          <a:spcPts val="1800"/>
        </a:spcBef>
        <a:spcAft>
          <a:spcPct val="0"/>
        </a:spcAft>
        <a:buClr>
          <a:schemeClr val="tx1"/>
        </a:buClr>
        <a:buSzPct val="80000"/>
        <a:buFont typeface="Wingdings 2" panose="05020102010507070707" pitchFamily="18" charset="2"/>
        <a:buChar char="ê"/>
        <a:defRPr sz="2400" kern="1200">
          <a:solidFill>
            <a:schemeClr val="tx1"/>
          </a:solidFill>
          <a:latin typeface="思源黑体 CN Normal" panose="020B0400000000000000" pitchFamily="34" charset="-122"/>
          <a:ea typeface="思源黑体 CN Normal" panose="020B0400000000000000" pitchFamily="34" charset="-122"/>
          <a:cs typeface="+mn-cs"/>
        </a:defRPr>
      </a:lvl1pPr>
      <a:lvl2pPr marL="357505" indent="-357505" algn="l" rtl="0" eaLnBrk="0" fontAlgn="base" hangingPunct="0">
        <a:lnSpc>
          <a:spcPct val="130000"/>
        </a:lnSpc>
        <a:spcBef>
          <a:spcPct val="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ê"/>
        <a:defRPr sz="1600" kern="1200">
          <a:solidFill>
            <a:schemeClr val="tx1"/>
          </a:solidFill>
          <a:latin typeface="思源黑体 CN Normal" panose="020B0400000000000000" pitchFamily="34" charset="-122"/>
          <a:ea typeface="思源黑体 CN Normal" panose="020B0400000000000000" pitchFamily="34" charset="-122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rgbClr val="262626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262626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26262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microsoft.com/office/2007/relationships/hdphoto" Target="../media/hdphoto3.wdp"/><Relationship Id="rId5" Type="http://schemas.openxmlformats.org/officeDocument/2006/relationships/image" Target="../media/image11.png"/><Relationship Id="rId4" Type="http://schemas.microsoft.com/office/2007/relationships/hdphoto" Target="../media/hdphoto2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microsoft.com/office/2007/relationships/hdphoto" Target="../media/hdphoto4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7548B32-49C3-5683-F06A-3DB68569039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6924" y="0"/>
            <a:ext cx="48581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5196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701025" y="511209"/>
            <a:ext cx="9105261" cy="1600438"/>
          </a:xfrm>
          <a:prstGeom prst="roundRect">
            <a:avLst/>
          </a:prstGeom>
          <a:noFill/>
          <a:ln>
            <a:noFill/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txBody>
          <a:bodyPr wrap="none" rtlCol="0">
            <a:spAutoFit/>
          </a:bodyPr>
          <a:lstStyle/>
          <a:p>
            <a:pPr algn="ctr"/>
            <a:r>
              <a:rPr lang="vi-VN" sz="4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Chủ đề 4</a:t>
            </a:r>
          </a:p>
          <a:p>
            <a:pPr algn="ctr"/>
            <a:r>
              <a:rPr lang="vi-VN" sz="4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TRẢI NGHIỆM CÙNG WORDPAD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02" y="3206695"/>
            <a:ext cx="12082795" cy="58477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vi-VN" sz="32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BÀI 12: THAY ĐỔI CỞ CHỮ VÀ MÀU CHỮ TRONG WORDPAD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4179414" y="512903"/>
            <a:ext cx="2889957" cy="917466"/>
          </a:xfrm>
        </p:spPr>
        <p:txBody>
          <a:bodyPr/>
          <a:lstStyle/>
          <a:p>
            <a:pPr marL="0" lvl="0" algn="just"/>
            <a:r>
              <a:rPr lang="en-US" altLang="zh-CN" sz="4800" b="1" i="0" u="none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altLang="zh-CN" sz="4800" b="1" i="0" u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4800" b="1" i="0" u="none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iêu</a:t>
            </a:r>
            <a:endParaRPr lang="en-US" altLang="zh-CN" sz="4800" b="1" i="0" u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19" name="文本占位符 2"/>
          <p:cNvSpPr>
            <a:spLocks noGrp="1"/>
          </p:cNvSpPr>
          <p:nvPr>
            <p:ph type="body" idx="1"/>
          </p:nvPr>
        </p:nvSpPr>
        <p:spPr>
          <a:xfrm>
            <a:off x="345968" y="2003626"/>
            <a:ext cx="11144992" cy="2934133"/>
          </a:xfrm>
          <a:prstGeom prst="flowChartAlternateProcess">
            <a:avLst/>
          </a:prstGeom>
          <a:solidFill>
            <a:schemeClr val="accent6">
              <a:lumMod val="20000"/>
              <a:lumOff val="80000"/>
              <a:alpha val="67000"/>
            </a:schemeClr>
          </a:solidFill>
          <a:ln w="38100">
            <a:solidFill>
              <a:srgbClr val="57C0D5"/>
            </a:solidFill>
          </a:ln>
        </p:spPr>
        <p:txBody>
          <a:bodyPr/>
          <a:lstStyle/>
          <a:p>
            <a:pPr lvl="0" algn="l">
              <a:lnSpc>
                <a:spcPct val="100000"/>
              </a:lnSpc>
            </a:pPr>
            <a:r>
              <a:rPr lang="vi-VN" sz="3600">
                <a:ln>
                  <a:solidFill>
                    <a:srgbClr val="005092"/>
                  </a:solidFill>
                </a:ln>
                <a:solidFill>
                  <a:srgbClr val="0050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Biết chọn khối nội dung trong WordPad; </a:t>
            </a:r>
            <a:endParaRPr lang="en-US" sz="3600">
              <a:ln>
                <a:solidFill>
                  <a:srgbClr val="005092"/>
                </a:solidFill>
              </a:ln>
              <a:solidFill>
                <a:srgbClr val="00509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>
              <a:lnSpc>
                <a:spcPct val="100000"/>
              </a:lnSpc>
            </a:pPr>
            <a:r>
              <a:rPr lang="vi-VN" sz="3600">
                <a:ln>
                  <a:solidFill>
                    <a:srgbClr val="005092"/>
                  </a:solidFill>
                </a:ln>
                <a:solidFill>
                  <a:srgbClr val="0050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Biết thay đổi cỡ chữ và màu chữ trong WordPad.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2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9219" grpId="0" uiExpand="1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109728" y="181640"/>
            <a:ext cx="8734097" cy="917466"/>
          </a:xfrm>
        </p:spPr>
        <p:txBody>
          <a:bodyPr/>
          <a:lstStyle/>
          <a:p>
            <a:pPr marL="0" lvl="0" algn="just"/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 động mở đầu (Khởi động)</a:t>
            </a:r>
            <a:endParaRPr lang="en-US" altLang="zh-CN" sz="4800" b="1" i="0" u="none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-43232" y="1050222"/>
            <a:ext cx="677942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Thử</a:t>
            </a: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thách</a:t>
            </a: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vi-V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“Ai </a:t>
            </a:r>
            <a:r>
              <a:rPr lang="en-US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tinh</a:t>
            </a: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mắt</a:t>
            </a: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hơn</a:t>
            </a:r>
            <a:r>
              <a:rPr lang="vi-V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”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9728" y="1758108"/>
            <a:ext cx="10292621" cy="64633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Em </a:t>
            </a:r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hãy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cho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biết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sự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khác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nhau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giữa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2 </a:t>
            </a:r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đoạn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văn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sau</a:t>
            </a:r>
            <a:r>
              <a:rPr lang="vi-V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118326-006C-773B-43BE-003BCA271582}"/>
              </a:ext>
            </a:extLst>
          </p:cNvPr>
          <p:cNvSpPr/>
          <p:nvPr/>
        </p:nvSpPr>
        <p:spPr>
          <a:xfrm>
            <a:off x="1333850" y="2626690"/>
            <a:ext cx="8145710" cy="165169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32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 cha như núi Thái Sơn </a:t>
            </a:r>
          </a:p>
          <a:p>
            <a:pPr algn="ctr"/>
            <a:r>
              <a:rPr lang="vi-VN" sz="32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Nghĩa mẹ như nước trong nguồn chảy ra.</a:t>
            </a:r>
            <a:endParaRPr lang="en-US" sz="32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D7A929-EFFD-CBE5-0BE2-81A29F014EC0}"/>
              </a:ext>
            </a:extLst>
          </p:cNvPr>
          <p:cNvSpPr/>
          <p:nvPr/>
        </p:nvSpPr>
        <p:spPr>
          <a:xfrm>
            <a:off x="1333850" y="4356220"/>
            <a:ext cx="8145709" cy="165169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3200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 </a:t>
            </a:r>
            <a:r>
              <a:rPr lang="vi-VN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</a:t>
            </a:r>
            <a:r>
              <a:rPr lang="vi-VN" sz="3200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như núi Thái Sơn </a:t>
            </a:r>
          </a:p>
          <a:p>
            <a:pPr algn="ctr"/>
            <a:r>
              <a:rPr lang="vi-VN" sz="3200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Nghĩa </a:t>
            </a:r>
            <a:r>
              <a:rPr lang="vi-VN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mẹ</a:t>
            </a:r>
            <a:r>
              <a:rPr lang="vi-VN" sz="3200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như nước trong nguồn chảy ra.</a:t>
            </a:r>
            <a:endParaRPr lang="en-US" sz="3200" dirty="0">
              <a:solidFill>
                <a:schemeClr val="tx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FC5425-469D-FD51-091F-33CF48508D21}"/>
              </a:ext>
            </a:extLst>
          </p:cNvPr>
          <p:cNvSpPr/>
          <p:nvPr/>
        </p:nvSpPr>
        <p:spPr>
          <a:xfrm>
            <a:off x="1333850" y="4356219"/>
            <a:ext cx="8145710" cy="165169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3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 cha như núi Thái Sơn </a:t>
            </a:r>
          </a:p>
          <a:p>
            <a:pPr algn="ctr"/>
            <a:r>
              <a:rPr lang="vi-VN" sz="3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Nghĩa mẹ như nước trong nguồn chảy ra.</a:t>
            </a:r>
            <a:endParaRPr lang="en-US" sz="36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1648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2" grpId="0"/>
      <p:bldP spid="3" grpId="0" animBg="1"/>
      <p:bldP spid="14" grpId="0" animBg="1"/>
      <p:bldP spid="15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1" y="0"/>
            <a:ext cx="9040980" cy="917466"/>
          </a:xfrm>
        </p:spPr>
        <p:txBody>
          <a:bodyPr/>
          <a:lstStyle/>
          <a:p>
            <a:pPr marL="0" lvl="0" algn="just"/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endParaRPr lang="en-US" altLang="zh-CN" sz="4400" b="1" i="0" u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25702" y="917466"/>
            <a:ext cx="616162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1. Chọn nội dung trong WordPad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32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41042" y="1507848"/>
            <a:ext cx="829993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sz="2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Quan </a:t>
            </a:r>
            <a:r>
              <a:rPr lang="en-US" sz="2800" b="1" dirty="0" err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sát</a:t>
            </a:r>
            <a:r>
              <a:rPr lang="en-US" sz="2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SGK </a:t>
            </a:r>
            <a:r>
              <a:rPr lang="en-US" sz="2800" b="1" dirty="0" err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trang</a:t>
            </a:r>
            <a:r>
              <a:rPr lang="en-US" sz="2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40</a:t>
            </a:r>
            <a:endParaRPr lang="en-US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57932" y="2031068"/>
            <a:ext cx="69392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b="1" i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Ở bước 1, con trỏ chuột được đặt ở đâu?</a:t>
            </a:r>
            <a:endParaRPr lang="en-US" b="1" i="1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E30111-82BB-FDB2-0A82-993F387FF1A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988" t="44370" r="51031" b="23630"/>
          <a:stretch/>
        </p:blipFill>
        <p:spPr>
          <a:xfrm>
            <a:off x="2152007" y="2653782"/>
            <a:ext cx="8299939" cy="3786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78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3" grpId="0"/>
      <p:bldP spid="7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8932985" cy="917466"/>
          </a:xfrm>
        </p:spPr>
        <p:txBody>
          <a:bodyPr/>
          <a:lstStyle/>
          <a:p>
            <a:pPr marL="0" lvl="0" algn="just"/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endParaRPr lang="en-US" altLang="zh-CN" sz="4400" b="1" i="0" u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250091" y="1278193"/>
            <a:ext cx="839595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b="1" i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Ở bước 2, chuột được thao tác như thế nào?</a:t>
            </a:r>
            <a:endParaRPr lang="en-US" b="1" i="1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B47B1D-28A1-FE2E-904C-2D756D0FDF1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7627" b="74505"/>
          <a:stretch/>
        </p:blipFill>
        <p:spPr>
          <a:xfrm>
            <a:off x="2105637" y="1834932"/>
            <a:ext cx="8924127" cy="4642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618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8932985" cy="917466"/>
          </a:xfrm>
        </p:spPr>
        <p:txBody>
          <a:bodyPr/>
          <a:lstStyle/>
          <a:p>
            <a:pPr marL="0" lvl="0" algn="just"/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endParaRPr lang="en-US" altLang="zh-CN" sz="4400" b="1" i="0" u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6331" y="847961"/>
            <a:ext cx="372313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Thay đổi cỡ chữ</a:t>
            </a:r>
            <a:endParaRPr lang="en-US" sz="36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E8FC84-6448-F240-0146-33E7577ECA24}"/>
              </a:ext>
            </a:extLst>
          </p:cNvPr>
          <p:cNvSpPr/>
          <p:nvPr/>
        </p:nvSpPr>
        <p:spPr>
          <a:xfrm>
            <a:off x="944291" y="1494292"/>
            <a:ext cx="8932984" cy="2000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hãy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quan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sát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SGK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trang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41 </a:t>
            </a:r>
            <a:r>
              <a:rPr lang="vi-VN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và cho biết: muốn làm cho chữ </a:t>
            </a:r>
            <a:r>
              <a:rPr lang="vi-VN" sz="48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hơn </a:t>
            </a:r>
            <a:r>
              <a:rPr lang="vi-VN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hoặc </a:t>
            </a:r>
            <a:r>
              <a:rPr lang="vi-VN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nhỏ hơn </a:t>
            </a:r>
            <a:r>
              <a:rPr lang="vi-VN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thì em cần thực hiện như thế nào?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2DFEA4-F9B5-F644-5FD9-A428BF1A0697}"/>
              </a:ext>
            </a:extLst>
          </p:cNvPr>
          <p:cNvSpPr/>
          <p:nvPr/>
        </p:nvSpPr>
        <p:spPr>
          <a:xfrm>
            <a:off x="1012801" y="3494840"/>
            <a:ext cx="893298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600" b="1" dirty="0" err="1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Trước</a:t>
            </a:r>
            <a:r>
              <a:rPr lang="en-US" sz="3600" b="1" dirty="0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khi</a:t>
            </a:r>
            <a:r>
              <a:rPr lang="en-US" sz="3600" b="1" dirty="0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đổi</a:t>
            </a:r>
            <a:r>
              <a:rPr lang="en-US" sz="3600" b="1" dirty="0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cỡ</a:t>
            </a:r>
            <a:r>
              <a:rPr lang="en-US" sz="3600" b="1" dirty="0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chữ</a:t>
            </a:r>
            <a:r>
              <a:rPr lang="en-US" sz="3600" b="1" dirty="0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sz="3600" b="1" dirty="0" err="1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cần</a:t>
            </a:r>
            <a:r>
              <a:rPr lang="en-US" sz="3600" b="1" dirty="0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làm</a:t>
            </a:r>
            <a:r>
              <a:rPr lang="en-US" sz="3600" b="1" dirty="0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gì</a:t>
            </a:r>
            <a:r>
              <a:rPr lang="en-US" sz="3600" b="1" dirty="0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với</a:t>
            </a:r>
            <a:r>
              <a:rPr lang="en-US" sz="3600" b="1" dirty="0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dòng</a:t>
            </a:r>
            <a:r>
              <a:rPr lang="en-US" sz="3600" b="1" dirty="0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chữ</a:t>
            </a:r>
            <a:r>
              <a:rPr lang="en-US" sz="3600" b="1" dirty="0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đó</a:t>
            </a:r>
            <a:r>
              <a:rPr lang="en-US" sz="3600" b="1" dirty="0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586686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3" grpId="0"/>
      <p:bldP spid="4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D9B38E4-7EB4-A7A4-4B2F-2F2F369A6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>
            <a:extLst>
              <a:ext uri="{FF2B5EF4-FFF2-40B4-BE49-F238E27FC236}">
                <a16:creationId xmlns:a16="http://schemas.microsoft.com/office/drawing/2014/main" id="{360C3C44-191E-1658-8EBC-9CFB90C64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932985" cy="917466"/>
          </a:xfrm>
        </p:spPr>
        <p:txBody>
          <a:bodyPr/>
          <a:lstStyle/>
          <a:p>
            <a:pPr marL="0" lvl="0" algn="just"/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endParaRPr lang="en-US" altLang="zh-CN" sz="4400" b="1" i="0" u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061857-B05A-91D0-0E51-BC85AC0F809F}"/>
              </a:ext>
            </a:extLst>
          </p:cNvPr>
          <p:cNvSpPr/>
          <p:nvPr/>
        </p:nvSpPr>
        <p:spPr>
          <a:xfrm>
            <a:off x="456331" y="847961"/>
            <a:ext cx="396403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Thay đổi </a:t>
            </a:r>
            <a:r>
              <a:rPr lang="vi-VN" sz="5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cỡ</a:t>
            </a:r>
            <a:r>
              <a:rPr lang="vi-VN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chữ</a:t>
            </a:r>
            <a:endParaRPr lang="en-US" sz="36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D5CFBC-F215-8961-E202-C34955B11DE3}"/>
              </a:ext>
            </a:extLst>
          </p:cNvPr>
          <p:cNvSpPr/>
          <p:nvPr/>
        </p:nvSpPr>
        <p:spPr>
          <a:xfrm>
            <a:off x="976022" y="1678444"/>
            <a:ext cx="89329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Sau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khi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chọn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i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sz="3600" b="1" i="1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tô</a:t>
            </a:r>
            <a:r>
              <a:rPr lang="en-US" sz="3600" b="1" i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nội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dung,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chọn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nút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lệnh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DFEF9E-8C4D-AAA5-5A69-6040640F1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199" y="2445404"/>
            <a:ext cx="8462848" cy="273415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9D602B0-3518-D785-F284-AC3332A66A01}"/>
              </a:ext>
            </a:extLst>
          </p:cNvPr>
          <p:cNvSpPr/>
          <p:nvPr/>
        </p:nvSpPr>
        <p:spPr>
          <a:xfrm>
            <a:off x="4539271" y="2771915"/>
            <a:ext cx="1241571" cy="654341"/>
          </a:xfrm>
          <a:prstGeom prst="rect">
            <a:avLst/>
          </a:prstGeom>
          <a:noFill/>
          <a:ln w="571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6B6A1D5-98E6-2AC7-AA28-60943B6D754E}"/>
              </a:ext>
            </a:extLst>
          </p:cNvPr>
          <p:cNvSpPr/>
          <p:nvPr/>
        </p:nvSpPr>
        <p:spPr>
          <a:xfrm>
            <a:off x="5420115" y="2897166"/>
            <a:ext cx="276837" cy="361311"/>
          </a:xfrm>
          <a:prstGeom prst="ellipse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FC3DD1A-E5B1-797F-F637-949223391D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2927" y="2445404"/>
            <a:ext cx="1933845" cy="378195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A08C312-BB4F-5984-8360-9793E381BEEE}"/>
              </a:ext>
            </a:extLst>
          </p:cNvPr>
          <p:cNvSpPr/>
          <p:nvPr/>
        </p:nvSpPr>
        <p:spPr>
          <a:xfrm>
            <a:off x="11064240" y="2523744"/>
            <a:ext cx="457200" cy="3575304"/>
          </a:xfrm>
          <a:prstGeom prst="rect">
            <a:avLst/>
          </a:prstGeom>
          <a:noFill/>
          <a:ln w="5715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979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3" grpId="0"/>
      <p:bldP spid="4" grpId="0"/>
      <p:bldP spid="7" grpId="0" animBg="1"/>
      <p:bldP spid="8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5A34413-5FF0-2FF9-AC9E-23F4B02BA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>
            <a:extLst>
              <a:ext uri="{FF2B5EF4-FFF2-40B4-BE49-F238E27FC236}">
                <a16:creationId xmlns:a16="http://schemas.microsoft.com/office/drawing/2014/main" id="{52EC223E-EF9D-719F-9CCB-ABEC659C3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932985" cy="917466"/>
          </a:xfrm>
        </p:spPr>
        <p:txBody>
          <a:bodyPr/>
          <a:lstStyle/>
          <a:p>
            <a:pPr marL="0" lvl="0" algn="just"/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endParaRPr lang="en-US" altLang="zh-CN" sz="4400" b="1" i="0" u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B3114D-DE30-5A45-46DF-988F20B232E0}"/>
              </a:ext>
            </a:extLst>
          </p:cNvPr>
          <p:cNvSpPr/>
          <p:nvPr/>
        </p:nvSpPr>
        <p:spPr>
          <a:xfrm>
            <a:off x="456331" y="847961"/>
            <a:ext cx="40908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vi-VN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Thay đổi </a:t>
            </a:r>
            <a:r>
              <a:rPr lang="en-US" sz="36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màu</a:t>
            </a:r>
            <a:r>
              <a:rPr lang="vi-VN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chữ</a:t>
            </a:r>
            <a:endParaRPr lang="en-US" sz="36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9AA914-26E9-5617-6A46-D78EE705EE6B}"/>
              </a:ext>
            </a:extLst>
          </p:cNvPr>
          <p:cNvSpPr/>
          <p:nvPr/>
        </p:nvSpPr>
        <p:spPr>
          <a:xfrm>
            <a:off x="944291" y="1494292"/>
            <a:ext cx="893298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hãy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quan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sát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SGK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trang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41 </a:t>
            </a:r>
            <a:r>
              <a:rPr lang="vi-VN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và cho biết: muốn làm cho chữ </a:t>
            </a:r>
            <a:r>
              <a:rPr lang="en-US" sz="3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đổi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màu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vi-VN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thì em cần thực hiện như thế nào?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E0B509-12AF-832E-23D9-58E35F3D0485}"/>
              </a:ext>
            </a:extLst>
          </p:cNvPr>
          <p:cNvSpPr/>
          <p:nvPr/>
        </p:nvSpPr>
        <p:spPr>
          <a:xfrm>
            <a:off x="1012801" y="3494840"/>
            <a:ext cx="893298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600" b="1" dirty="0" err="1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Trước</a:t>
            </a:r>
            <a:r>
              <a:rPr lang="en-US" sz="3600" b="1" dirty="0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khi</a:t>
            </a:r>
            <a:r>
              <a:rPr lang="en-US" sz="3600" b="1" dirty="0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đổi</a:t>
            </a:r>
            <a:r>
              <a:rPr lang="en-US" sz="3600" b="1" dirty="0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màu</a:t>
            </a:r>
            <a:r>
              <a:rPr lang="en-US" sz="3600" b="1" dirty="0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chữ</a:t>
            </a:r>
            <a:r>
              <a:rPr lang="en-US" sz="3600" b="1" dirty="0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sz="3600" b="1" dirty="0" err="1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cần</a:t>
            </a:r>
            <a:r>
              <a:rPr lang="en-US" sz="3600" b="1" dirty="0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làm</a:t>
            </a:r>
            <a:r>
              <a:rPr lang="en-US" sz="3600" b="1" dirty="0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gì</a:t>
            </a:r>
            <a:r>
              <a:rPr lang="en-US" sz="3600" b="1" dirty="0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với</a:t>
            </a:r>
            <a:r>
              <a:rPr lang="en-US" sz="3600" b="1" dirty="0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chữ</a:t>
            </a:r>
            <a:r>
              <a:rPr lang="en-US" sz="3600" b="1" dirty="0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đó</a:t>
            </a:r>
            <a:r>
              <a:rPr lang="en-US" sz="3600" b="1" dirty="0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96803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3" grpId="0"/>
      <p:bldP spid="4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C124682-2C75-7965-7DEB-91D94BA73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>
            <a:extLst>
              <a:ext uri="{FF2B5EF4-FFF2-40B4-BE49-F238E27FC236}">
                <a16:creationId xmlns:a16="http://schemas.microsoft.com/office/drawing/2014/main" id="{2F81B6B1-3033-F8B8-777A-32B400414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932985" cy="917466"/>
          </a:xfrm>
        </p:spPr>
        <p:txBody>
          <a:bodyPr/>
          <a:lstStyle/>
          <a:p>
            <a:pPr marL="0" lvl="0" algn="just"/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endParaRPr lang="en-US" altLang="zh-CN" sz="4400" b="1" i="0" u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AB512A-E5B2-B4E9-F594-EA6C51903F7B}"/>
              </a:ext>
            </a:extLst>
          </p:cNvPr>
          <p:cNvSpPr/>
          <p:nvPr/>
        </p:nvSpPr>
        <p:spPr>
          <a:xfrm>
            <a:off x="456331" y="847961"/>
            <a:ext cx="40908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Thay đổi </a:t>
            </a:r>
            <a:r>
              <a:rPr lang="en-US" sz="3600" b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màu</a:t>
            </a:r>
            <a:r>
              <a:rPr lang="vi-VN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chữ</a:t>
            </a:r>
            <a:endParaRPr lang="en-US" sz="36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6CBAC4-BD98-E187-1170-4668612AAE55}"/>
              </a:ext>
            </a:extLst>
          </p:cNvPr>
          <p:cNvSpPr/>
          <p:nvPr/>
        </p:nvSpPr>
        <p:spPr>
          <a:xfrm>
            <a:off x="962579" y="1678444"/>
            <a:ext cx="89329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Sau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khi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chọn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i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sz="3600" b="1" i="1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tô</a:t>
            </a:r>
            <a:r>
              <a:rPr lang="en-US" sz="3600" b="1" i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nội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dung,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chọn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nút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lệnh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E3E50C-B8EE-2500-4B05-DBE7EC5527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359" y="2629556"/>
            <a:ext cx="8462848" cy="273415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1812056-5FC8-659E-3C26-7D707632771E}"/>
              </a:ext>
            </a:extLst>
          </p:cNvPr>
          <p:cNvSpPr/>
          <p:nvPr/>
        </p:nvSpPr>
        <p:spPr>
          <a:xfrm>
            <a:off x="8312199" y="3879611"/>
            <a:ext cx="1241571" cy="654341"/>
          </a:xfrm>
          <a:prstGeom prst="rect">
            <a:avLst/>
          </a:prstGeom>
          <a:noFill/>
          <a:ln w="571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8C9069E-D7B9-CEA7-C13E-C599BDD8E0BD}"/>
              </a:ext>
            </a:extLst>
          </p:cNvPr>
          <p:cNvSpPr/>
          <p:nvPr/>
        </p:nvSpPr>
        <p:spPr>
          <a:xfrm>
            <a:off x="9025129" y="3996632"/>
            <a:ext cx="329424" cy="361311"/>
          </a:xfrm>
          <a:prstGeom prst="ellipse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683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3" grpId="0"/>
      <p:bldP spid="4" grpId="0"/>
      <p:bldP spid="7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2332990" y="-215695"/>
            <a:ext cx="5556738" cy="917466"/>
          </a:xfrm>
        </p:spPr>
        <p:txBody>
          <a:bodyPr/>
          <a:lstStyle/>
          <a:p>
            <a:pPr marL="0" lvl="0" algn="just"/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endParaRPr lang="en-US" altLang="zh-CN" sz="4800" b="1" i="0" u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37029" y="770874"/>
            <a:ext cx="747485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Yêu cầu </a:t>
            </a:r>
            <a:r>
              <a:rPr lang="en-US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vi-VN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ọc sinh nội dung Luyện tập trong sách LQTH 2, trang </a:t>
            </a:r>
            <a:r>
              <a:rPr lang="en-US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41</a:t>
            </a:r>
            <a:r>
              <a:rPr lang="vi-VN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36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7029" y="2040306"/>
            <a:ext cx="8290448" cy="4830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vi-VN" b="1" i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Bài 1. Viết chức năng của các nút lệnh sau vào chỗ chấm</a:t>
            </a:r>
            <a:r>
              <a:rPr lang="en-US" b="1" i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2000" b="1" i="1" dirty="0">
              <a:solidFill>
                <a:schemeClr val="accent4">
                  <a:lumMod val="75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7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35538" y="2742077"/>
            <a:ext cx="8700310" cy="37960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88114" y="2820372"/>
            <a:ext cx="24521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C00000"/>
                </a:solidFill>
              </a:rPr>
              <a:t>Thay đổi kiểu chữ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7428" y="2820372"/>
            <a:ext cx="22701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C00000"/>
                </a:solidFill>
              </a:rPr>
              <a:t> kích thước chữ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53027" y="5766772"/>
            <a:ext cx="23342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C00000"/>
                </a:solidFill>
              </a:rPr>
              <a:t> Kiểu chữ in đậm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82970" y="5754066"/>
            <a:ext cx="19287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C00000"/>
                </a:solidFill>
              </a:rPr>
              <a:t> Màu cho chữ</a:t>
            </a:r>
          </a:p>
        </p:txBody>
      </p:sp>
    </p:spTree>
    <p:extLst>
      <p:ext uri="{BB962C8B-B14F-4D97-AF65-F5344CB8AC3E}">
        <p14:creationId xmlns:p14="http://schemas.microsoft.com/office/powerpoint/2010/main" val="2227498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2" grpId="0"/>
      <p:bldP spid="3" grpId="0"/>
      <p:bldP spid="5" grpId="0"/>
      <p:bldP spid="7" grpId="0"/>
      <p:bldP spid="8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2279239" y="-97018"/>
            <a:ext cx="5638800" cy="917466"/>
          </a:xfrm>
        </p:spPr>
        <p:txBody>
          <a:bodyPr/>
          <a:lstStyle/>
          <a:p>
            <a:pPr marL="0" lvl="0" algn="just"/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endParaRPr lang="en-US" altLang="zh-CN" sz="4800" b="1" i="0" u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37028" y="968912"/>
            <a:ext cx="813072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Yêu cầu </a:t>
            </a:r>
            <a:r>
              <a:rPr lang="en-US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vi-VN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ọc sinh nội dung Luyện tập trong sách LQTH 2, trang </a:t>
            </a:r>
            <a:r>
              <a:rPr lang="en-US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41</a:t>
            </a:r>
            <a:r>
              <a:rPr lang="vi-VN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36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7028" y="2220687"/>
            <a:ext cx="8740322" cy="658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vi-VN" sz="3200" b="1" i="1" dirty="0">
                <a:solidFill>
                  <a:srgbClr val="C00000"/>
                </a:solidFill>
              </a:rPr>
              <a:t>Bài 2. Khoanh vào đáp án thích hợp theo mẫu sau:</a:t>
            </a:r>
            <a:endParaRPr lang="en-US" sz="2800" b="1" i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7028" y="2930775"/>
            <a:ext cx="5101772" cy="3338946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86500" y="2948360"/>
            <a:ext cx="5531574" cy="3338946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3162300" y="4743450"/>
            <a:ext cx="769620" cy="40767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3138805" y="5860586"/>
            <a:ext cx="816610" cy="42672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8235677" y="3887054"/>
            <a:ext cx="816610" cy="42672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8968033" y="5702337"/>
            <a:ext cx="816610" cy="42672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215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2" grpId="0"/>
      <p:bldP spid="3" grpId="0"/>
      <p:bldP spid="4" grpId="0" animBg="1"/>
      <p:bldP spid="10" grpId="0" animBg="1"/>
      <p:bldP spid="11" grpId="0" animBg="1"/>
      <p:bldP spid="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F5BB90F-549F-D340-633B-799FCB0B0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>
            <a:extLst>
              <a:ext uri="{FF2B5EF4-FFF2-40B4-BE49-F238E27FC236}">
                <a16:creationId xmlns:a16="http://schemas.microsoft.com/office/drawing/2014/main" id="{9D249024-3931-BC36-F563-F021DF45A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6127" y="-97018"/>
            <a:ext cx="8556771" cy="917466"/>
          </a:xfrm>
        </p:spPr>
        <p:txBody>
          <a:bodyPr/>
          <a:lstStyle/>
          <a:p>
            <a:pPr marL="0" lvl="0" algn="just"/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endParaRPr lang="en-US" altLang="zh-CN" sz="4400" b="1" i="0" u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082972-933D-527B-F752-C27BB7AC2962}"/>
              </a:ext>
            </a:extLst>
          </p:cNvPr>
          <p:cNvSpPr/>
          <p:nvPr/>
        </p:nvSpPr>
        <p:spPr>
          <a:xfrm>
            <a:off x="418156" y="1095975"/>
            <a:ext cx="8740322" cy="6227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en-US" sz="3200" b="1" i="1" dirty="0">
                <a:solidFill>
                  <a:srgbClr val="7030A0"/>
                </a:solidFill>
              </a:rPr>
              <a:t>Em </a:t>
            </a:r>
            <a:r>
              <a:rPr lang="en-US" sz="3200" b="1" i="1" dirty="0" err="1">
                <a:solidFill>
                  <a:srgbClr val="7030A0"/>
                </a:solidFill>
              </a:rPr>
              <a:t>thực</a:t>
            </a:r>
            <a:r>
              <a:rPr lang="en-US" sz="3200" b="1" i="1" dirty="0">
                <a:solidFill>
                  <a:srgbClr val="7030A0"/>
                </a:solidFill>
              </a:rPr>
              <a:t> </a:t>
            </a:r>
            <a:r>
              <a:rPr lang="en-US" sz="3200" b="1" i="1" dirty="0" err="1">
                <a:solidFill>
                  <a:srgbClr val="7030A0"/>
                </a:solidFill>
              </a:rPr>
              <a:t>hành</a:t>
            </a:r>
            <a:r>
              <a:rPr lang="en-US" sz="3200" b="1" i="1" dirty="0">
                <a:solidFill>
                  <a:srgbClr val="7030A0"/>
                </a:solidFill>
              </a:rPr>
              <a:t> </a:t>
            </a:r>
            <a:r>
              <a:rPr lang="en-US" sz="3200" b="1" i="1" dirty="0" err="1">
                <a:solidFill>
                  <a:srgbClr val="7030A0"/>
                </a:solidFill>
              </a:rPr>
              <a:t>theo</a:t>
            </a:r>
            <a:r>
              <a:rPr lang="en-US" sz="3200" b="1" i="1" dirty="0">
                <a:solidFill>
                  <a:srgbClr val="7030A0"/>
                </a:solidFill>
              </a:rPr>
              <a:t> </a:t>
            </a:r>
            <a:r>
              <a:rPr lang="en-US" sz="3200" b="1" i="1" dirty="0" err="1">
                <a:solidFill>
                  <a:srgbClr val="7030A0"/>
                </a:solidFill>
              </a:rPr>
              <a:t>mẫu</a:t>
            </a:r>
            <a:r>
              <a:rPr lang="en-US" sz="3200" b="1" i="1" dirty="0">
                <a:solidFill>
                  <a:srgbClr val="7030A0"/>
                </a:solidFill>
              </a:rPr>
              <a:t> </a:t>
            </a:r>
            <a:r>
              <a:rPr lang="en-US" sz="3200" b="1" i="1" dirty="0" err="1">
                <a:solidFill>
                  <a:srgbClr val="7030A0"/>
                </a:solidFill>
              </a:rPr>
              <a:t>bài</a:t>
            </a:r>
            <a:r>
              <a:rPr lang="en-US" sz="3200" b="1" i="1" dirty="0">
                <a:solidFill>
                  <a:srgbClr val="7030A0"/>
                </a:solidFill>
              </a:rPr>
              <a:t> </a:t>
            </a:r>
            <a:r>
              <a:rPr lang="en-US" sz="3200" b="1" i="1" dirty="0" err="1">
                <a:solidFill>
                  <a:srgbClr val="7030A0"/>
                </a:solidFill>
              </a:rPr>
              <a:t>Luyện</a:t>
            </a:r>
            <a:r>
              <a:rPr lang="en-US" sz="3200" b="1" i="1" dirty="0">
                <a:solidFill>
                  <a:srgbClr val="7030A0"/>
                </a:solidFill>
              </a:rPr>
              <a:t> </a:t>
            </a:r>
            <a:r>
              <a:rPr lang="en-US" sz="3200" b="1" i="1" dirty="0" err="1">
                <a:solidFill>
                  <a:srgbClr val="7030A0"/>
                </a:solidFill>
              </a:rPr>
              <a:t>tập</a:t>
            </a:r>
            <a:r>
              <a:rPr lang="en-US" sz="3200" b="1" i="1" dirty="0">
                <a:solidFill>
                  <a:srgbClr val="7030A0"/>
                </a:solidFill>
              </a:rPr>
              <a:t> 2 (41-42)</a:t>
            </a:r>
            <a:endParaRPr lang="en-US" sz="2800" b="1" i="1" dirty="0">
              <a:solidFill>
                <a:srgbClr val="7030A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0E78047-CF3A-A650-4860-7BFFDBCEC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4005" y="1994301"/>
            <a:ext cx="6430992" cy="4155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399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58FC056-7BF7-07DE-FD17-AEFDB9282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>
            <a:extLst>
              <a:ext uri="{FF2B5EF4-FFF2-40B4-BE49-F238E27FC236}">
                <a16:creationId xmlns:a16="http://schemas.microsoft.com/office/drawing/2014/main" id="{D8759C44-4A02-3EF1-D493-B9E4E3781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797143" cy="917466"/>
          </a:xfrm>
        </p:spPr>
        <p:txBody>
          <a:bodyPr/>
          <a:lstStyle/>
          <a:p>
            <a:pPr marL="0" lvl="0" algn="just"/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endParaRPr lang="en-US" altLang="zh-CN" sz="4800" b="1" i="0" u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B6C3B0-182E-DB69-6B33-986EA5733157}"/>
              </a:ext>
            </a:extLst>
          </p:cNvPr>
          <p:cNvSpPr/>
          <p:nvPr/>
        </p:nvSpPr>
        <p:spPr>
          <a:xfrm>
            <a:off x="861645" y="917466"/>
            <a:ext cx="1035412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Khởi động phần mềm WordPad rồi gõ nội dung theo mẫu sau: (trình chiếu bài mẫu)</a:t>
            </a:r>
            <a:endParaRPr lang="en-US" sz="32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E7D0F5-94B7-ED29-3075-4AE4FD60E7F3}"/>
              </a:ext>
            </a:extLst>
          </p:cNvPr>
          <p:cNvPicPr/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30749" y="2395087"/>
            <a:ext cx="10354129" cy="4261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2753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797143" cy="917466"/>
          </a:xfrm>
        </p:spPr>
        <p:txBody>
          <a:bodyPr/>
          <a:lstStyle/>
          <a:p>
            <a:pPr marL="0" lvl="0" algn="just"/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 động vận dụng</a:t>
            </a:r>
            <a:endParaRPr lang="en-US" altLang="zh-CN" sz="4800" b="1" i="0" u="none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61645" y="917466"/>
            <a:ext cx="1035412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Hãy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thiết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kế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một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nhãn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vỡ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của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em</a:t>
            </a:r>
            <a:r>
              <a:rPr lang="vi-VN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32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A7691DC-D7A3-75BC-CA02-8234B97B3A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0154" y="1944879"/>
            <a:ext cx="5884554" cy="3702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235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C05F19A-7F46-827B-ADDE-6DD9687B1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>
            <a:extLst>
              <a:ext uri="{FF2B5EF4-FFF2-40B4-BE49-F238E27FC236}">
                <a16:creationId xmlns:a16="http://schemas.microsoft.com/office/drawing/2014/main" id="{5850EDEB-55FF-8FB1-AEDC-54B936177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797143" cy="917466"/>
          </a:xfrm>
        </p:spPr>
        <p:txBody>
          <a:bodyPr/>
          <a:lstStyle/>
          <a:p>
            <a:pPr marL="0" lvl="0" algn="just"/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endParaRPr lang="en-US" altLang="zh-CN" sz="4800" b="1" i="0" u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73FC3-E196-34E2-9BBA-B818C2E5D09A}"/>
              </a:ext>
            </a:extLst>
          </p:cNvPr>
          <p:cNvSpPr/>
          <p:nvPr/>
        </p:nvSpPr>
        <p:spPr>
          <a:xfrm>
            <a:off x="918935" y="1747976"/>
            <a:ext cx="10354129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Hãy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trình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bày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một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bài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hát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ngắn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hoặc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đoạn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lời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bài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hát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yêu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thích</a:t>
            </a:r>
            <a:r>
              <a:rPr lang="vi-VN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marL="457200" indent="-457200">
              <a:buFontTx/>
              <a:buChar char="-"/>
            </a:pPr>
            <a:r>
              <a:rPr lang="en-US" sz="32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Tên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bài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hát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( </a:t>
            </a:r>
            <a:r>
              <a:rPr lang="en-US" sz="32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thục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vào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trong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, </a:t>
            </a:r>
            <a:r>
              <a:rPr lang="en-US" sz="32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kiểu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chữ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đậm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)</a:t>
            </a:r>
          </a:p>
          <a:p>
            <a:pPr marL="457200" indent="-457200">
              <a:buFontTx/>
              <a:buChar char="-"/>
            </a:pPr>
            <a:r>
              <a:rPr lang="en-US" sz="32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Đổi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màu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câu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hát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em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thích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nhất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trong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bài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.</a:t>
            </a:r>
            <a:endParaRPr lang="en-US" sz="3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586713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2104514" y="156704"/>
            <a:ext cx="5785338" cy="917466"/>
          </a:xfrm>
        </p:spPr>
        <p:txBody>
          <a:bodyPr/>
          <a:lstStyle/>
          <a:p>
            <a:pPr marL="0" lvl="0" algn="just"/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endParaRPr lang="en-US" altLang="zh-CN" sz="4800" b="1" i="0" u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7416" y="1775554"/>
            <a:ext cx="7803847" cy="393217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393522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 txBox="1">
            <a:spLocks noGrp="1"/>
          </p:cNvSpPr>
          <p:nvPr>
            <p:ph type="title"/>
          </p:nvPr>
        </p:nvSpPr>
        <p:spPr>
          <a:xfrm>
            <a:off x="1919536" y="2965594"/>
            <a:ext cx="86409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6000" b="1" dirty="0">
                <a:solidFill>
                  <a:schemeClr val="accent4">
                    <a:lumMod val="75000"/>
                  </a:schemeClr>
                </a:solidFill>
                <a:latin typeface="Century Schoolbook" pitchFamily="18" charset="0"/>
              </a:rPr>
              <a:t>Chúc các em có một buổi học thú vị nhé</a:t>
            </a:r>
            <a:r>
              <a:rPr lang="en-US" sz="6000" b="1" dirty="0">
                <a:solidFill>
                  <a:schemeClr val="accent4">
                    <a:lumMod val="75000"/>
                  </a:schemeClr>
                </a:solidFill>
                <a:latin typeface="Century Schoolbook" pitchFamily="18" charset="0"/>
              </a:rPr>
              <a:t>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63526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4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3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4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6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7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NDENT_LEVEL" val="0"/>
  <p:tag name="ISPRING_PRESENTER_ID" val="{3F46BBF5-F625-4E53-9829-E61C7D6C472A}"/>
  <p:tag name="GENSWF_ADVANCE_TIME" val="15.000"/>
  <p:tag name="TIMING" val="|0.001"/>
  <p:tag name="ISPRING_CUSTOM_TIMING_USED" val="1"/>
  <p:tag name="ISPRING_SLIDE_ID_2" val="{F8FADD59-B3E0-4CB5-AFDD-1F2D9FD189B7}"/>
</p:tagLst>
</file>

<file path=ppt/theme/theme1.xml><?xml version="1.0" encoding="utf-8"?>
<a:theme xmlns:a="http://schemas.openxmlformats.org/drawingml/2006/main" name="亮亮图文旗舰店https://liangliangtuwen.tmall.com">
  <a:themeElements>
    <a:clrScheme name="自定义 108">
      <a:dk1>
        <a:srgbClr val="4D4D4D"/>
      </a:dk1>
      <a:lt1>
        <a:srgbClr val="FFFFFF"/>
      </a:lt1>
      <a:dk2>
        <a:srgbClr val="4D4D4D"/>
      </a:dk2>
      <a:lt2>
        <a:srgbClr val="FFFFFF"/>
      </a:lt2>
      <a:accent1>
        <a:srgbClr val="6CBCBC"/>
      </a:accent1>
      <a:accent2>
        <a:srgbClr val="3DCEB5"/>
      </a:accent2>
      <a:accent3>
        <a:srgbClr val="3DB7CF"/>
      </a:accent3>
      <a:accent4>
        <a:srgbClr val="E676A9"/>
      </a:accent4>
      <a:accent5>
        <a:srgbClr val="BAB65E"/>
      </a:accent5>
      <a:accent6>
        <a:srgbClr val="FFB14A"/>
      </a:accent6>
      <a:hlink>
        <a:srgbClr val="EF342B"/>
      </a:hlink>
      <a:folHlink>
        <a:srgbClr val="7F7F7F"/>
      </a:folHlink>
    </a:clrScheme>
    <a:fontScheme name="自定义 2">
      <a:majorFont>
        <a:latin typeface="等线 Light"/>
        <a:ea typeface="微软雅黑"/>
        <a:cs typeface=""/>
      </a:majorFont>
      <a:minorFont>
        <a:latin typeface="等线"/>
        <a:ea typeface="幼圆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1126</TotalTime>
  <Words>560</Words>
  <Application>Microsoft Office PowerPoint</Application>
  <PresentationFormat>Widescreen</PresentationFormat>
  <Paragraphs>75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Calibri</vt:lpstr>
      <vt:lpstr>Century Schoolbook</vt:lpstr>
      <vt:lpstr>Tempus Sans ITC</vt:lpstr>
      <vt:lpstr>Times New Roman</vt:lpstr>
      <vt:lpstr>Wingdings 2</vt:lpstr>
      <vt:lpstr>思源黑体 CN Normal</vt:lpstr>
      <vt:lpstr>亮亮图文旗舰店https://liangliangtuwen.tmall.com</vt:lpstr>
      <vt:lpstr>PowerPoint Presentation</vt:lpstr>
      <vt:lpstr>PowerPoint Presentation</vt:lpstr>
      <vt:lpstr>Mục tiêu</vt:lpstr>
      <vt:lpstr>Hoạt động mở đầu (Khởi động)</vt:lpstr>
      <vt:lpstr>Hoạt động hình thành kiến thức mới</vt:lpstr>
      <vt:lpstr>Hoạt động hình thành kiến thức mới</vt:lpstr>
      <vt:lpstr>Hoạt động hình thành kiến thức mới</vt:lpstr>
      <vt:lpstr>Hoạt động hình thành kiến thức mới</vt:lpstr>
      <vt:lpstr>Hoạt động hình thành kiến thức mới</vt:lpstr>
      <vt:lpstr>Hoạt động hình thành kiến thức mới</vt:lpstr>
      <vt:lpstr>Hoạt động luyện tập</vt:lpstr>
      <vt:lpstr>Hoạt động luyện tập</vt:lpstr>
      <vt:lpstr>Hoạt động luyện tập mở rộng</vt:lpstr>
      <vt:lpstr>Hoạt động luyện tập thực hành</vt:lpstr>
      <vt:lpstr>Hoạt động vận dụng</vt:lpstr>
      <vt:lpstr>Hoạt động thực hành mở rộng</vt:lpstr>
      <vt:lpstr>Hoạt động đánh giá</vt:lpstr>
      <vt:lpstr>Chúc các em có một buổi học thú vị nhé!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卡通可爱萌萌哒 教育教学模板</dc:title>
  <dc:creator>邹雪涵</dc:creator>
  <cp:lastModifiedBy>Hoai Chuong Nguyen</cp:lastModifiedBy>
  <cp:revision>178</cp:revision>
  <dcterms:created xsi:type="dcterms:W3CDTF">2017-05-10T09:07:55Z</dcterms:created>
  <dcterms:modified xsi:type="dcterms:W3CDTF">2026-04-05T16:23:37Z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2052-10.1.0.6393</vt:lpwstr>
  </property>
</Properties>
</file>