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75" r:id="rId2"/>
    <p:sldId id="260" r:id="rId3"/>
    <p:sldId id="262" r:id="rId4"/>
    <p:sldId id="263" r:id="rId5"/>
    <p:sldId id="264" r:id="rId6"/>
    <p:sldId id="265" r:id="rId7"/>
    <p:sldId id="266" r:id="rId8"/>
    <p:sldId id="273" r:id="rId9"/>
    <p:sldId id="267" r:id="rId10"/>
    <p:sldId id="269" r:id="rId11"/>
    <p:sldId id="270" r:id="rId12"/>
    <p:sldId id="274" r:id="rId13"/>
    <p:sldId id="271" r:id="rId14"/>
  </p:sldIdLst>
  <p:sldSz cx="12192000" cy="6858000"/>
  <p:notesSz cx="6858000" cy="9144000"/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92"/>
    <a:srgbClr val="F2F2F2"/>
    <a:srgbClr val="239071"/>
    <a:srgbClr val="57C0D5"/>
    <a:srgbClr val="FCA821"/>
    <a:srgbClr val="FFFFFF"/>
    <a:srgbClr val="D1E7E5"/>
    <a:srgbClr val="F9FCFB"/>
    <a:srgbClr val="DC5389"/>
    <a:srgbClr val="F2EF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2" autoAdjust="0"/>
    <p:restoredTop sz="98912" autoAdjust="0"/>
  </p:normalViewPr>
  <p:slideViewPr>
    <p:cSldViewPr snapToGrid="0">
      <p:cViewPr varScale="1">
        <p:scale>
          <a:sx n="95" d="100"/>
          <a:sy n="95" d="100"/>
        </p:scale>
        <p:origin x="136" y="25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8139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8543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8942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4241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3598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315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046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74256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9844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1872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2026/3/16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microsoft.com/office/2007/relationships/hdphoto" Target="../media/hdphoto3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4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microsoft.com/office/2007/relationships/hdphoto" Target="../media/hdphoto6.wdp"/><Relationship Id="rId5" Type="http://schemas.openxmlformats.org/officeDocument/2006/relationships/image" Target="../media/image14.png"/><Relationship Id="rId4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CB0894-1F5C-37CC-1679-C26DC9CA5E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527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701025" y="511209"/>
            <a:ext cx="9105261" cy="1600438"/>
          </a:xfrm>
          <a:prstGeom prst="round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đề 4</a:t>
            </a:r>
          </a:p>
          <a:p>
            <a:pPr algn="ctr"/>
            <a:r>
              <a:rPr lang="vi-VN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4345" y="3206695"/>
            <a:ext cx="10443308" cy="70788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BÀI 10: GIỚI THIỆU PHẦ</a:t>
            </a:r>
            <a:r>
              <a:rPr lang="en-US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vi-VN" sz="40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MỀM WODPAD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4302506" y="449821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19" name="文本占位符 2"/>
          <p:cNvSpPr>
            <a:spLocks noGrp="1"/>
          </p:cNvSpPr>
          <p:nvPr>
            <p:ph type="body" idx="1"/>
          </p:nvPr>
        </p:nvSpPr>
        <p:spPr>
          <a:xfrm>
            <a:off x="345968" y="2003626"/>
            <a:ext cx="11712682" cy="2934133"/>
          </a:xfrm>
          <a:prstGeom prst="flowChartAlternateProcess">
            <a:avLst/>
          </a:prstGeom>
          <a:solidFill>
            <a:schemeClr val="accent6">
              <a:lumMod val="20000"/>
              <a:lumOff val="80000"/>
              <a:alpha val="67000"/>
            </a:schemeClr>
          </a:solidFill>
          <a:ln w="38100">
            <a:solidFill>
              <a:srgbClr val="57C0D5"/>
            </a:solidFill>
          </a:ln>
        </p:spPr>
        <p:txBody>
          <a:bodyPr/>
          <a:lstStyle/>
          <a:p>
            <a:pPr lvl="0" algn="l">
              <a:lnSpc>
                <a:spcPct val="100000"/>
              </a:lnSpc>
            </a:pP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Biết khởi động và thoát khỏi phần mềm WordPad; Biết được các thành phần cơ bản trên cửa sổ phần mềm</a:t>
            </a:r>
            <a:r>
              <a:rPr lang="en-US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3600">
                <a:ln>
                  <a:solidFill>
                    <a:srgbClr val="005092"/>
                  </a:solidFill>
                </a:ln>
                <a:solidFill>
                  <a:srgbClr val="00509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WordPad.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2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19" grpId="0" uiExpand="1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09728" y="81890"/>
            <a:ext cx="8734097" cy="917466"/>
          </a:xfrm>
        </p:spPr>
        <p:txBody>
          <a:bodyPr/>
          <a:lstStyle/>
          <a:p>
            <a:pPr marL="0" lvl="0" algn="just"/>
            <a:r>
              <a:rPr lang="en-US" altLang="zh-CN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mở đầu (Khởi động)</a:t>
            </a:r>
            <a:endParaRPr lang="en-US" altLang="zh-CN" sz="4800" b="1" i="0" u="none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13651" y="5376538"/>
            <a:ext cx="11410950" cy="63094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Hai hình này có điểm gì khác nhau?</a:t>
            </a:r>
            <a:endParaRPr lang="en-US" sz="3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63ACD3-4062-9735-4817-57A655896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651" y="1118086"/>
            <a:ext cx="4878408" cy="413972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C32F77-348F-50FB-7B5B-91F1CC5B62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5902" y="1187418"/>
            <a:ext cx="5134692" cy="400105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946D829-064B-15C3-9CDB-A0841D075750}"/>
              </a:ext>
            </a:extLst>
          </p:cNvPr>
          <p:cNvSpPr/>
          <p:nvPr/>
        </p:nvSpPr>
        <p:spPr>
          <a:xfrm>
            <a:off x="513651" y="5376537"/>
            <a:ext cx="11410950" cy="116955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5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Nếu viết sai ở ảnh 1 thì phải làm sao? Còn ở máy tính thì có dễ sửa hơn không?</a:t>
            </a:r>
            <a:endParaRPr lang="en-US" sz="35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61648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56077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78239" y="1178724"/>
            <a:ext cx="7714869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40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1. Giới thiệu phần mềm WordPad.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12194" y="2159572"/>
            <a:ext cx="107749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WordPad là phần mềm giúp các em ghi chép lại nội dung nào đó vào máy tính.</a:t>
            </a:r>
            <a:endParaRPr lang="en-US" sz="3600" b="1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273" b="89773" l="0" r="89773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725" t="7012" r="21566" b="32483"/>
          <a:stretch/>
        </p:blipFill>
        <p:spPr>
          <a:xfrm>
            <a:off x="4665080" y="3815446"/>
            <a:ext cx="1550054" cy="159750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578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978901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7999" y="960700"/>
            <a:ext cx="8978901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4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Khởi động phần mềm WordPad.</a:t>
            </a: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1788020"/>
            <a:ext cx="1083564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Trên màn hình nền, nháy đúp chuột vào WordPad, em sẽ thấy xuất hiện cửa sổ sau:</a:t>
            </a:r>
          </a:p>
        </p:txBody>
      </p:sp>
      <p:pic>
        <p:nvPicPr>
          <p:cNvPr id="15" name="Picture 1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48372" y="2941438"/>
            <a:ext cx="7229740" cy="367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18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03323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67430" y="914534"/>
            <a:ext cx="8565509" cy="584775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3. Các thành phần cơ bản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(Quan </a:t>
            </a:r>
            <a:r>
              <a:rPr 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3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3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35) 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D65EC33-D6EF-4C10-09C1-8A6C786AAA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43" y="1565008"/>
            <a:ext cx="9992713" cy="5297257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F567377-EAE0-48E3-A248-7B2F75F9C57A}"/>
              </a:ext>
            </a:extLst>
          </p:cNvPr>
          <p:cNvSpPr/>
          <p:nvPr/>
        </p:nvSpPr>
        <p:spPr>
          <a:xfrm>
            <a:off x="2919369" y="3429001"/>
            <a:ext cx="612396" cy="580938"/>
          </a:xfrm>
          <a:prstGeom prst="ellipse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C8855E-2767-B7D7-BCBF-6FF0BB47C286}"/>
              </a:ext>
            </a:extLst>
          </p:cNvPr>
          <p:cNvSpPr/>
          <p:nvPr/>
        </p:nvSpPr>
        <p:spPr>
          <a:xfrm>
            <a:off x="2604781" y="4556663"/>
            <a:ext cx="1241571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Con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trỏ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272C5FA-FBE4-2D49-32F7-5D1C4129FA89}"/>
              </a:ext>
            </a:extLst>
          </p:cNvPr>
          <p:cNvCxnSpPr/>
          <p:nvPr/>
        </p:nvCxnSpPr>
        <p:spPr>
          <a:xfrm flipV="1">
            <a:off x="3229762" y="4059129"/>
            <a:ext cx="0" cy="480459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8CF8FD9-3C2D-0907-BE52-533A37A4090A}"/>
              </a:ext>
            </a:extLst>
          </p:cNvPr>
          <p:cNvSpPr/>
          <p:nvPr/>
        </p:nvSpPr>
        <p:spPr>
          <a:xfrm>
            <a:off x="1166070" y="2004969"/>
            <a:ext cx="5352176" cy="679508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862C1F-7949-08C8-D944-046AB7567197}"/>
              </a:ext>
            </a:extLst>
          </p:cNvPr>
          <p:cNvSpPr/>
          <p:nvPr/>
        </p:nvSpPr>
        <p:spPr>
          <a:xfrm>
            <a:off x="7703997" y="2076930"/>
            <a:ext cx="2598652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Thanh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công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cụ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B655C1B-8D04-6F5D-7CE8-503AB5B3DAB7}"/>
              </a:ext>
            </a:extLst>
          </p:cNvPr>
          <p:cNvCxnSpPr>
            <a:cxnSpLocks/>
          </p:cNvCxnSpPr>
          <p:nvPr/>
        </p:nvCxnSpPr>
        <p:spPr>
          <a:xfrm flipH="1">
            <a:off x="6518246" y="2332139"/>
            <a:ext cx="1174459" cy="0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D473F9AC-D192-71F9-1735-81DB80DFE605}"/>
              </a:ext>
            </a:extLst>
          </p:cNvPr>
          <p:cNvSpPr/>
          <p:nvPr/>
        </p:nvSpPr>
        <p:spPr>
          <a:xfrm>
            <a:off x="1535185" y="1770077"/>
            <a:ext cx="805343" cy="234892"/>
          </a:xfrm>
          <a:prstGeom prst="rect">
            <a:avLst/>
          </a:prstGeom>
          <a:noFill/>
          <a:ln w="5715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6" name="Rectangle 9215">
            <a:extLst>
              <a:ext uri="{FF2B5EF4-FFF2-40B4-BE49-F238E27FC236}">
                <a16:creationId xmlns:a16="http://schemas.microsoft.com/office/drawing/2014/main" id="{680D2B3A-E417-F53E-B40B-0EEDF3D984A6}"/>
              </a:ext>
            </a:extLst>
          </p:cNvPr>
          <p:cNvSpPr/>
          <p:nvPr/>
        </p:nvSpPr>
        <p:spPr>
          <a:xfrm>
            <a:off x="3418616" y="1615589"/>
            <a:ext cx="1639946" cy="30897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Thanh menu</a:t>
            </a:r>
          </a:p>
        </p:txBody>
      </p:sp>
      <p:cxnSp>
        <p:nvCxnSpPr>
          <p:cNvPr id="9217" name="Straight Arrow Connector 9216">
            <a:extLst>
              <a:ext uri="{FF2B5EF4-FFF2-40B4-BE49-F238E27FC236}">
                <a16:creationId xmlns:a16="http://schemas.microsoft.com/office/drawing/2014/main" id="{CDA48988-FD44-6930-76B8-60D0C1EF69EA}"/>
              </a:ext>
            </a:extLst>
          </p:cNvPr>
          <p:cNvCxnSpPr>
            <a:cxnSpLocks/>
            <a:stCxn id="9216" idx="1"/>
          </p:cNvCxnSpPr>
          <p:nvPr/>
        </p:nvCxnSpPr>
        <p:spPr>
          <a:xfrm flipH="1">
            <a:off x="2434201" y="1770077"/>
            <a:ext cx="984415" cy="85287"/>
          </a:xfrm>
          <a:prstGeom prst="straightConnector1">
            <a:avLst/>
          </a:prstGeom>
          <a:ln w="38100">
            <a:solidFill>
              <a:srgbClr val="00509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20" name="Rectangle 9219">
            <a:extLst>
              <a:ext uri="{FF2B5EF4-FFF2-40B4-BE49-F238E27FC236}">
                <a16:creationId xmlns:a16="http://schemas.microsoft.com/office/drawing/2014/main" id="{DFC784DF-D913-DD39-8384-D307761426CD}"/>
              </a:ext>
            </a:extLst>
          </p:cNvPr>
          <p:cNvSpPr/>
          <p:nvPr/>
        </p:nvSpPr>
        <p:spPr>
          <a:xfrm>
            <a:off x="2004969" y="2902591"/>
            <a:ext cx="8154099" cy="3691154"/>
          </a:xfrm>
          <a:prstGeom prst="rect">
            <a:avLst/>
          </a:prstGeom>
          <a:noFill/>
          <a:ln w="57150" cap="flat" cmpd="sng" algn="ctr">
            <a:solidFill>
              <a:schemeClr val="accent4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1" name="Rectangle 9220">
            <a:extLst>
              <a:ext uri="{FF2B5EF4-FFF2-40B4-BE49-F238E27FC236}">
                <a16:creationId xmlns:a16="http://schemas.microsoft.com/office/drawing/2014/main" id="{9C81432D-8B82-ADDC-5DE0-59244B401012}"/>
              </a:ext>
            </a:extLst>
          </p:cNvPr>
          <p:cNvSpPr/>
          <p:nvPr/>
        </p:nvSpPr>
        <p:spPr>
          <a:xfrm>
            <a:off x="5952094" y="4309802"/>
            <a:ext cx="2598652" cy="51041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Vùng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làm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Bahnschrift" panose="020B0502040204020203" pitchFamily="34" charset="0"/>
              </a:rPr>
              <a:t>việc</a:t>
            </a:r>
            <a:endParaRPr lang="en-US" dirty="0">
              <a:solidFill>
                <a:schemeClr val="accent6">
                  <a:lumMod val="7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2890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9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9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20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0" fill="hold"/>
                                        <p:tgtEl>
                                          <p:spTgt spid="92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9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9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11" grpId="0" animBg="1"/>
      <p:bldP spid="16" grpId="0" animBg="1"/>
      <p:bldP spid="24" grpId="0" animBg="1"/>
      <p:bldP spid="25" grpId="0" animBg="1"/>
      <p:bldP spid="29" grpId="0" animBg="1"/>
      <p:bldP spid="9216" grpId="0" animBg="1"/>
      <p:bldP spid="9220" grpId="0" animBg="1"/>
      <p:bldP spid="92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9065551" cy="917466"/>
          </a:xfrm>
        </p:spPr>
        <p:txBody>
          <a:bodyPr/>
          <a:lstStyle/>
          <a:p>
            <a:pPr marL="0" lvl="0" algn="just"/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kiến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altLang="zh-C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4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endParaRPr lang="en-US" altLang="zh-CN" sz="44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19100" y="917466"/>
            <a:ext cx="7429500" cy="707886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4. Thoát khỏi phần mềm WordPad.</a:t>
            </a:r>
            <a:endParaRPr lang="en-US" sz="4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90" y="1827477"/>
            <a:ext cx="833396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Để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thoát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khỏi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phần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mềm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nháy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chuột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vào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32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đâu</a:t>
            </a: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712CD8-7FBA-0497-E1E9-E28AEB5763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4970" y="2412251"/>
            <a:ext cx="8136502" cy="4313257"/>
          </a:xfrm>
          <a:prstGeom prst="rect">
            <a:avLst/>
          </a:prstGeom>
        </p:spPr>
      </p:pic>
      <p:sp>
        <p:nvSpPr>
          <p:cNvPr id="4" name="Left Arrow 3"/>
          <p:cNvSpPr/>
          <p:nvPr/>
        </p:nvSpPr>
        <p:spPr>
          <a:xfrm rot="19234092">
            <a:off x="9296754" y="1892569"/>
            <a:ext cx="993913" cy="454589"/>
          </a:xfrm>
          <a:prstGeom prst="lef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24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1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  <p:bldP spid="6" grpId="0"/>
      <p:bldP spid="4" grpId="0" animBg="1"/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45345" y="-176435"/>
            <a:ext cx="5503985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7535" y="917466"/>
            <a:ext cx="9399607" cy="1015663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3000" b="1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Yêu cầu học sinh làm bài tập cá nhân bài 1 và 2 trong sách Làm quen Tin học 2 trang 35.</a:t>
            </a:r>
            <a:endParaRPr lang="en-US" sz="3000" b="1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9650" y="2286000"/>
            <a:ext cx="10210800" cy="419100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774559" y="5329535"/>
            <a:ext cx="5661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en-US" sz="5400" b="1" cap="none" spc="0">
                <a:ln/>
                <a:solidFill>
                  <a:srgbClr val="C00000"/>
                </a:solidFill>
                <a:effectLst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227498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3" presetClass="entr" presetSubtype="16" repeatCount="indefinite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6" grpId="0" animBg="1"/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866294" y="0"/>
            <a:ext cx="5767754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luyện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tập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0100" y="1193482"/>
            <a:ext cx="10515600" cy="530256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8401050" y="4705350"/>
            <a:ext cx="1543050" cy="15621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4100052" y="274320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005781" y="475574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8479401" y="2743200"/>
            <a:ext cx="1386348" cy="1740310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465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338754" y="-159489"/>
            <a:ext cx="5746433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30014" y="917466"/>
            <a:ext cx="9214729" cy="1323439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vi-VN" sz="4000" b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Em hãy khởi động phần mềm Wordpad bằng cách khác theo hướng dẫn sau:</a:t>
            </a:r>
            <a:endParaRPr lang="en-US" sz="4000" b="1"/>
          </a:p>
        </p:txBody>
      </p:sp>
      <p:pic>
        <p:nvPicPr>
          <p:cNvPr id="6" name="Picture 5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0014" y="2559883"/>
            <a:ext cx="5746433" cy="3802817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26892" y="2559883"/>
            <a:ext cx="5226958" cy="3802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2572664" y="71370"/>
            <a:ext cx="5609492" cy="917466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699" y="1401458"/>
            <a:ext cx="10027642" cy="389337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507007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965594"/>
            <a:ext cx="864096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chemeClr val="accent4">
                    <a:lumMod val="75000"/>
                  </a:schemeClr>
                </a:solidFill>
                <a:latin typeface="Century Schoolbook" pitchFamily="18" charset="0"/>
              </a:rPr>
              <a:t>!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35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3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5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6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7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08">
    <a:dk1>
      <a:srgbClr val="4D4D4D"/>
    </a:dk1>
    <a:lt1>
      <a:srgbClr val="FFFFFF"/>
    </a:lt1>
    <a:dk2>
      <a:srgbClr val="4D4D4D"/>
    </a:dk2>
    <a:lt2>
      <a:srgbClr val="FFFFFF"/>
    </a:lt2>
    <a:accent1>
      <a:srgbClr val="6CBCBC"/>
    </a:accent1>
    <a:accent2>
      <a:srgbClr val="3DCEB5"/>
    </a:accent2>
    <a:accent3>
      <a:srgbClr val="3DB7CF"/>
    </a:accent3>
    <a:accent4>
      <a:srgbClr val="E676A9"/>
    </a:accent4>
    <a:accent5>
      <a:srgbClr val="BAB65E"/>
    </a:accent5>
    <a:accent6>
      <a:srgbClr val="FFB14A"/>
    </a:accent6>
    <a:hlink>
      <a:srgbClr val="EF342B"/>
    </a:hlink>
    <a:folHlink>
      <a:srgbClr val="7F7F7F"/>
    </a:folHlink>
  </a:clrScheme>
</a:themeOverride>
</file>

<file path=ppt/theme/themeOverride2.xml><?xml version="1.0" encoding="utf-8"?>
<a:themeOverride xmlns:a="http://schemas.openxmlformats.org/drawingml/2006/main">
  <a:clrScheme name="自定义 108">
    <a:dk1>
      <a:srgbClr val="4D4D4D"/>
    </a:dk1>
    <a:lt1>
      <a:srgbClr val="FFFFFF"/>
    </a:lt1>
    <a:dk2>
      <a:srgbClr val="4D4D4D"/>
    </a:dk2>
    <a:lt2>
      <a:srgbClr val="FFFFFF"/>
    </a:lt2>
    <a:accent1>
      <a:srgbClr val="6CBCBC"/>
    </a:accent1>
    <a:accent2>
      <a:srgbClr val="3DCEB5"/>
    </a:accent2>
    <a:accent3>
      <a:srgbClr val="3DB7CF"/>
    </a:accent3>
    <a:accent4>
      <a:srgbClr val="E676A9"/>
    </a:accent4>
    <a:accent5>
      <a:srgbClr val="BAB65E"/>
    </a:accent5>
    <a:accent6>
      <a:srgbClr val="FFB14A"/>
    </a:accent6>
    <a:hlink>
      <a:srgbClr val="EF342B"/>
    </a:hlink>
    <a:folHlink>
      <a:srgbClr val="7F7F7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955</TotalTime>
  <Words>299</Words>
  <Application>Microsoft Office PowerPoint</Application>
  <PresentationFormat>Widescreen</PresentationFormat>
  <Paragraphs>44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Bahnschrift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PowerPoint Presentation</vt:lpstr>
      <vt:lpstr>PowerPoint Presentation</vt:lpstr>
      <vt:lpstr>Mục tiêu</vt:lpstr>
      <vt:lpstr>Hoạt động mở đầu (Khởi động)</vt:lpstr>
      <vt:lpstr>Hoạt động hình thành kiến thức mới</vt:lpstr>
      <vt:lpstr>Hoạt động hình thành kiến thức mới</vt:lpstr>
      <vt:lpstr>Hoạt động hình thành kiến thức mới</vt:lpstr>
      <vt:lpstr>Hoạt động hình thành kiến thức mới</vt:lpstr>
      <vt:lpstr>Hoạt động luyện tập</vt:lpstr>
      <vt:lpstr>Hoạt động luyện tập</vt:lpstr>
      <vt:lpstr>Hoạt động vận dụng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158</cp:revision>
  <dcterms:created xsi:type="dcterms:W3CDTF">2017-05-10T09:07:55Z</dcterms:created>
  <dcterms:modified xsi:type="dcterms:W3CDTF">2026-03-16T16:03:13Z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